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2D6BE6E-8242-45F1-90CF-DB710858F3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CEB9035-05D9-4D8D-BEA2-6C3330CB09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42AB29-774B-4CCE-9897-04A00F3872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E35711-F40D-44A8-B33C-890DC61D8C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BD164E-2240-4BEA-B0EE-5864935C31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088E1D-A224-4972-B336-CD1EA58B40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BA080C-E895-44A8-8584-42EA88A1CE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01C58E-C162-48D6-A5E4-DAE4635712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F52EBC-574A-442A-86A9-38090B6AE0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D3AD9C-9E10-4D93-9815-01778C8F19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21E7E2-83B2-4AD3-A535-BB1C8AAF70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859A7B-580A-45AA-8FD1-F772EA672C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02D0E8-98D3-41B7-BEB3-6D4D0CBE31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4" name="Picture 4" descr="international-student-ai-dashboard-rgb.jpg"/>
          <p:cNvPicPr/>
          <p:nvPr/>
        </p:nvPicPr>
        <p:blipFill>
          <a:blip r:embed="rId1"/>
          <a:stretch/>
        </p:blipFill>
        <p:spPr>
          <a:xfrm>
            <a:off x="6309360" y="1127880"/>
            <a:ext cx="5257440" cy="3504960"/>
          </a:xfrm>
          <a:prstGeom prst="rect">
            <a:avLst/>
          </a:prstGeom>
          <a:ln w="0">
            <a:noFill/>
          </a:ln>
        </p:spPr>
      </p:pic>
      <p:sp>
        <p:nvSpPr>
          <p:cNvPr id="65" name="Rounded Rectangle 5"/>
          <p:cNvSpPr/>
          <p:nvPr/>
        </p:nvSpPr>
        <p:spPr>
          <a:xfrm>
            <a:off x="713160" y="658440"/>
            <a:ext cx="2011320" cy="34704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1000" spc="-1" strike="noStrike">
                <a:solidFill>
                  <a:srgbClr val="ffffff"/>
                </a:solidFill>
                <a:latin typeface="Microsoft YaHei"/>
              </a:rPr>
              <a:t>优化版方案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13160" y="1234440"/>
            <a:ext cx="539460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3400" spc="-1" strike="noStrike">
                <a:solidFill>
                  <a:srgbClr val="ffffff"/>
                </a:solidFill>
                <a:latin typeface="Microsoft YaHei"/>
              </a:rPr>
              <a:t>国际学生智能管理平台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731520" y="1874520"/>
            <a:ext cx="5531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400" spc="-1" strike="noStrike">
                <a:solidFill>
                  <a:srgbClr val="bfdbfe"/>
                </a:solidFill>
                <a:latin typeface="Microsoft YaHei"/>
              </a:rPr>
              <a:t>数据统计驾驶舱与 </a:t>
            </a:r>
            <a:r>
              <a:rPr b="1" lang="en-US" sz="2400" spc="-1" strike="noStrike">
                <a:solidFill>
                  <a:srgbClr val="bfdbfe"/>
                </a:solidFill>
                <a:latin typeface="Microsoft YaHei"/>
              </a:rPr>
              <a:t>AI </a:t>
            </a:r>
            <a:r>
              <a:rPr b="1" lang="zh-CN" sz="2400" spc="-1" strike="noStrike">
                <a:solidFill>
                  <a:srgbClr val="bfdbfe"/>
                </a:solidFill>
                <a:latin typeface="Microsoft YaHei"/>
              </a:rPr>
              <a:t>智能体建设方案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49880" y="2816280"/>
            <a:ext cx="50288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300" spc="-1" strike="noStrike">
                <a:solidFill>
                  <a:srgbClr val="e2e8f0"/>
                </a:solidFill>
                <a:latin typeface="Microsoft YaHei"/>
              </a:rPr>
              <a:t>面向招生、审核、住宿、费用、教务、保险、多语言服务的一体化数据分析与智能运营升级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749880" y="3703320"/>
            <a:ext cx="1023840" cy="3654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数据驾驶舱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ounded Rectangle 10"/>
          <p:cNvSpPr/>
          <p:nvPr/>
        </p:nvSpPr>
        <p:spPr>
          <a:xfrm>
            <a:off x="2011680" y="3703320"/>
            <a:ext cx="1023840" cy="3654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AI </a:t>
            </a: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问数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ounded Rectangle 11"/>
          <p:cNvSpPr/>
          <p:nvPr/>
        </p:nvSpPr>
        <p:spPr>
          <a:xfrm>
            <a:off x="3273480" y="3703320"/>
            <a:ext cx="1023840" cy="3654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智能预警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ounded Rectangle 12"/>
          <p:cNvSpPr/>
          <p:nvPr/>
        </p:nvSpPr>
        <p:spPr>
          <a:xfrm>
            <a:off x="4535280" y="3703320"/>
            <a:ext cx="1023840" cy="3654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多语言助手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49880" y="6144840"/>
            <a:ext cx="73148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cbd5e1"/>
                </a:solidFill>
                <a:latin typeface="Microsoft YaHei"/>
              </a:rPr>
              <a:t>建设方向：统一数据资产｜可视化统计｜</a:t>
            </a:r>
            <a:r>
              <a:rPr b="0" lang="en-US" sz="1000" spc="-1" strike="noStrike">
                <a:solidFill>
                  <a:srgbClr val="cbd5e1"/>
                </a:solidFill>
                <a:latin typeface="Microsoft YaHei"/>
              </a:rPr>
              <a:t>AI </a:t>
            </a:r>
            <a:r>
              <a:rPr b="0" lang="zh-CN" sz="1000" spc="-1" strike="noStrike">
                <a:solidFill>
                  <a:srgbClr val="cbd5e1"/>
                </a:solidFill>
                <a:latin typeface="Microsoft YaHei"/>
              </a:rPr>
              <a:t>智能分析｜</a:t>
            </a:r>
            <a:r>
              <a:rPr b="0" lang="en-US" sz="1000" spc="-1" strike="noStrike">
                <a:solidFill>
                  <a:srgbClr val="cbd5e1"/>
                </a:solidFill>
                <a:latin typeface="Microsoft YaHei"/>
              </a:rPr>
              <a:t>Agent </a:t>
            </a:r>
            <a:r>
              <a:rPr b="0" lang="zh-CN" sz="1000" spc="-1" strike="noStrike">
                <a:solidFill>
                  <a:srgbClr val="cbd5e1"/>
                </a:solidFill>
                <a:latin typeface="Microsoft YaHei"/>
              </a:rPr>
              <a:t>闭环处置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目录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从现状痛点到能力设计、系统架构与落地路径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02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868680" y="1417320"/>
            <a:ext cx="658080" cy="4752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icrosoft YaHei"/>
              </a:rPr>
              <a:t>01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1783080" y="1417320"/>
            <a:ext cx="36572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0f172a"/>
                </a:solidFill>
                <a:latin typeface="Microsoft YaHei"/>
              </a:rPr>
              <a:t>建设背景与目标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1792080" y="1810440"/>
            <a:ext cx="4114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明确系统升级方向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12"/>
          <p:cNvSpPr/>
          <p:nvPr/>
        </p:nvSpPr>
        <p:spPr>
          <a:xfrm>
            <a:off x="868680" y="2468880"/>
            <a:ext cx="658080" cy="4752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icrosoft YaHei"/>
              </a:rPr>
              <a:t>02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1783080" y="2468880"/>
            <a:ext cx="36572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0f172a"/>
                </a:solidFill>
                <a:latin typeface="Microsoft YaHei"/>
              </a:rPr>
              <a:t>数据统计驾驶舱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1792080" y="2862000"/>
            <a:ext cx="4114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构建统一指标与大屏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15"/>
          <p:cNvSpPr/>
          <p:nvPr/>
        </p:nvSpPr>
        <p:spPr>
          <a:xfrm>
            <a:off x="868680" y="3520440"/>
            <a:ext cx="658080" cy="4752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icrosoft YaHei"/>
              </a:rPr>
              <a:t>03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16"/>
          <p:cNvSpPr/>
          <p:nvPr/>
        </p:nvSpPr>
        <p:spPr>
          <a:xfrm>
            <a:off x="1783080" y="3520440"/>
            <a:ext cx="36572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1600" spc="-1" strike="noStrike">
                <a:solidFill>
                  <a:srgbClr val="0f172a"/>
                </a:solidFill>
                <a:latin typeface="Microsoft YaHei"/>
              </a:rPr>
              <a:t>分析与 </a:t>
            </a:r>
            <a:r>
              <a:rPr b="1" lang="en-US" sz="1600" spc="-1" strike="noStrike">
                <a:solidFill>
                  <a:srgbClr val="0f172a"/>
                </a:solidFill>
                <a:latin typeface="Microsoft YaHei"/>
              </a:rPr>
              <a:t>Agent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7"/>
          <p:cNvSpPr/>
          <p:nvPr/>
        </p:nvSpPr>
        <p:spPr>
          <a:xfrm>
            <a:off x="1792080" y="3913560"/>
            <a:ext cx="4114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从问数到闭环处置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18"/>
          <p:cNvSpPr/>
          <p:nvPr/>
        </p:nvSpPr>
        <p:spPr>
          <a:xfrm>
            <a:off x="868680" y="4572000"/>
            <a:ext cx="658080" cy="4752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icrosoft YaHei"/>
              </a:rPr>
              <a:t>04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19"/>
          <p:cNvSpPr/>
          <p:nvPr/>
        </p:nvSpPr>
        <p:spPr>
          <a:xfrm>
            <a:off x="1783080" y="4572000"/>
            <a:ext cx="36572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600" spc="-1" strike="noStrike">
                <a:solidFill>
                  <a:srgbClr val="0f172a"/>
                </a:solidFill>
                <a:latin typeface="Microsoft YaHei"/>
              </a:rPr>
              <a:t>安全治理与实施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0"/>
          <p:cNvSpPr/>
          <p:nvPr/>
        </p:nvSpPr>
        <p:spPr>
          <a:xfrm>
            <a:off x="1792080" y="4965120"/>
            <a:ext cx="4114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可控、可审计、可落地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21"/>
          <p:cNvSpPr/>
          <p:nvPr/>
        </p:nvSpPr>
        <p:spPr>
          <a:xfrm>
            <a:off x="6446520" y="1389960"/>
            <a:ext cx="448020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22"/>
          <p:cNvSpPr/>
          <p:nvPr/>
        </p:nvSpPr>
        <p:spPr>
          <a:xfrm>
            <a:off x="6446520" y="1389960"/>
            <a:ext cx="448020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3"/>
          <p:cNvSpPr/>
          <p:nvPr/>
        </p:nvSpPr>
        <p:spPr>
          <a:xfrm>
            <a:off x="6647760" y="1572840"/>
            <a:ext cx="40777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一屏掌握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24"/>
          <p:cNvSpPr/>
          <p:nvPr/>
        </p:nvSpPr>
        <p:spPr>
          <a:xfrm>
            <a:off x="6647760" y="2011680"/>
            <a:ext cx="40777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招生、在校、费用、住宿、教务、保险核心指标集中呈现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25"/>
          <p:cNvSpPr/>
          <p:nvPr/>
        </p:nvSpPr>
        <p:spPr>
          <a:xfrm>
            <a:off x="6446520" y="2697480"/>
            <a:ext cx="448020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26"/>
          <p:cNvSpPr/>
          <p:nvPr/>
        </p:nvSpPr>
        <p:spPr>
          <a:xfrm>
            <a:off x="6446520" y="2697480"/>
            <a:ext cx="448020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7"/>
          <p:cNvSpPr/>
          <p:nvPr/>
        </p:nvSpPr>
        <p:spPr>
          <a:xfrm>
            <a:off x="6647760" y="2880360"/>
            <a:ext cx="40777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一问即得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8"/>
          <p:cNvSpPr/>
          <p:nvPr/>
        </p:nvSpPr>
        <p:spPr>
          <a:xfrm>
            <a:off x="6647760" y="3319200"/>
            <a:ext cx="40777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领导和教师通过自然语言查询数据并生成图表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29"/>
          <p:cNvSpPr/>
          <p:nvPr/>
        </p:nvSpPr>
        <p:spPr>
          <a:xfrm>
            <a:off x="6446520" y="4005000"/>
            <a:ext cx="448020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30"/>
          <p:cNvSpPr/>
          <p:nvPr/>
        </p:nvSpPr>
        <p:spPr>
          <a:xfrm>
            <a:off x="6446520" y="4005000"/>
            <a:ext cx="448020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31"/>
          <p:cNvSpPr/>
          <p:nvPr/>
        </p:nvSpPr>
        <p:spPr>
          <a:xfrm>
            <a:off x="6647760" y="4187880"/>
            <a:ext cx="40777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一键闭环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2"/>
          <p:cNvSpPr/>
          <p:nvPr/>
        </p:nvSpPr>
        <p:spPr>
          <a:xfrm>
            <a:off x="6647760" y="4626720"/>
            <a:ext cx="40777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风险识别、通知、工单、跟进和复盘形成闭环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一、建设背景：从业务系统走向智能运营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现有系统已经覆盖核心业务，下一步需要把数据转化为管理洞察与服务能力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03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9"/>
          <p:cNvSpPr/>
          <p:nvPr/>
        </p:nvSpPr>
        <p:spPr>
          <a:xfrm>
            <a:off x="685800" y="1417320"/>
            <a:ext cx="242280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ectangle 10"/>
          <p:cNvSpPr/>
          <p:nvPr/>
        </p:nvSpPr>
        <p:spPr>
          <a:xfrm>
            <a:off x="685800" y="1417320"/>
            <a:ext cx="242280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11"/>
          <p:cNvSpPr/>
          <p:nvPr/>
        </p:nvSpPr>
        <p:spPr>
          <a:xfrm>
            <a:off x="887040" y="1600200"/>
            <a:ext cx="20203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业务覆盖完整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887040" y="2039040"/>
            <a:ext cx="2020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招生、审核、住宿、费用、教务、保险等核心模块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3"/>
          <p:cNvSpPr/>
          <p:nvPr/>
        </p:nvSpPr>
        <p:spPr>
          <a:xfrm>
            <a:off x="887040" y="1920240"/>
            <a:ext cx="20113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2563eb"/>
                </a:solidFill>
                <a:latin typeface="Microsoft YaHei"/>
              </a:rPr>
              <a:t>6+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14"/>
          <p:cNvSpPr/>
          <p:nvPr/>
        </p:nvSpPr>
        <p:spPr>
          <a:xfrm>
            <a:off x="3474720" y="1417320"/>
            <a:ext cx="242280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Rectangle 15"/>
          <p:cNvSpPr/>
          <p:nvPr/>
        </p:nvSpPr>
        <p:spPr>
          <a:xfrm>
            <a:off x="3474720" y="1417320"/>
            <a:ext cx="242280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16"/>
          <p:cNvSpPr/>
          <p:nvPr/>
        </p:nvSpPr>
        <p:spPr>
          <a:xfrm>
            <a:off x="3675960" y="1600200"/>
            <a:ext cx="20203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服务对象多元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3675960" y="2039040"/>
            <a:ext cx="2020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领导、教师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管理人员、国际学生协同使用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8"/>
          <p:cNvSpPr/>
          <p:nvPr/>
        </p:nvSpPr>
        <p:spPr>
          <a:xfrm>
            <a:off x="3675960" y="1920240"/>
            <a:ext cx="20113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d9488"/>
                </a:solidFill>
                <a:latin typeface="Microsoft YaHei"/>
              </a:rPr>
              <a:t>3</a:t>
            </a:r>
            <a:r>
              <a:rPr b="1" lang="zh-CN" sz="2300" spc="-1" strike="noStrike">
                <a:solidFill>
                  <a:srgbClr val="0d9488"/>
                </a:solidFill>
                <a:latin typeface="Microsoft YaHei"/>
              </a:rPr>
              <a:t>类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19"/>
          <p:cNvSpPr/>
          <p:nvPr/>
        </p:nvSpPr>
        <p:spPr>
          <a:xfrm>
            <a:off x="6263640" y="1417320"/>
            <a:ext cx="242280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ectangle 20"/>
          <p:cNvSpPr/>
          <p:nvPr/>
        </p:nvSpPr>
        <p:spPr>
          <a:xfrm>
            <a:off x="6263640" y="1417320"/>
            <a:ext cx="242280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21"/>
          <p:cNvSpPr/>
          <p:nvPr/>
        </p:nvSpPr>
        <p:spPr>
          <a:xfrm>
            <a:off x="6464880" y="1600200"/>
            <a:ext cx="20203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语言基础具备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22"/>
          <p:cNvSpPr/>
          <p:nvPr/>
        </p:nvSpPr>
        <p:spPr>
          <a:xfrm>
            <a:off x="6464880" y="2039040"/>
            <a:ext cx="2020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中文、英文、日文、韩文学生端服务能力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23"/>
          <p:cNvSpPr/>
          <p:nvPr/>
        </p:nvSpPr>
        <p:spPr>
          <a:xfrm>
            <a:off x="6464880" y="1920240"/>
            <a:ext cx="20113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6d28d9"/>
                </a:solidFill>
                <a:latin typeface="Microsoft YaHei"/>
              </a:rPr>
              <a:t>4</a:t>
            </a:r>
            <a:r>
              <a:rPr b="1" lang="zh-CN" sz="2300" spc="-1" strike="noStrike">
                <a:solidFill>
                  <a:srgbClr val="6d28d9"/>
                </a:solidFill>
                <a:latin typeface="Microsoft YaHei"/>
              </a:rPr>
              <a:t>语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24"/>
          <p:cNvSpPr/>
          <p:nvPr/>
        </p:nvSpPr>
        <p:spPr>
          <a:xfrm>
            <a:off x="9052560" y="1417320"/>
            <a:ext cx="242280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ectangle 25"/>
          <p:cNvSpPr/>
          <p:nvPr/>
        </p:nvSpPr>
        <p:spPr>
          <a:xfrm>
            <a:off x="9052560" y="1417320"/>
            <a:ext cx="242280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6"/>
          <p:cNvSpPr/>
          <p:nvPr/>
        </p:nvSpPr>
        <p:spPr>
          <a:xfrm>
            <a:off x="9253800" y="1600200"/>
            <a:ext cx="20203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升级重点明确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7"/>
          <p:cNvSpPr/>
          <p:nvPr/>
        </p:nvSpPr>
        <p:spPr>
          <a:xfrm>
            <a:off x="9253800" y="2039040"/>
            <a:ext cx="2020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数据统计、智能分析、预警处置、智能助手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8"/>
          <p:cNvSpPr/>
          <p:nvPr/>
        </p:nvSpPr>
        <p:spPr>
          <a:xfrm>
            <a:off x="9253800" y="1920240"/>
            <a:ext cx="20113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ea580c"/>
                </a:solidFill>
                <a:latin typeface="Microsoft YaHei"/>
              </a:rPr>
              <a:t>AI+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29"/>
          <p:cNvSpPr/>
          <p:nvPr/>
        </p:nvSpPr>
        <p:spPr>
          <a:xfrm>
            <a:off x="713160" y="3977640"/>
            <a:ext cx="1998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Rounded Rectangle 30"/>
          <p:cNvSpPr/>
          <p:nvPr/>
        </p:nvSpPr>
        <p:spPr>
          <a:xfrm>
            <a:off x="822960" y="41058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31"/>
          <p:cNvSpPr/>
          <p:nvPr/>
        </p:nvSpPr>
        <p:spPr>
          <a:xfrm>
            <a:off x="1207080" y="4105800"/>
            <a:ext cx="1413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沉淀数据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32"/>
          <p:cNvSpPr/>
          <p:nvPr/>
        </p:nvSpPr>
        <p:spPr>
          <a:xfrm>
            <a:off x="859680" y="4416480"/>
            <a:ext cx="1706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统一采集业务数据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ight Arrow 33"/>
          <p:cNvSpPr/>
          <p:nvPr/>
        </p:nvSpPr>
        <p:spPr>
          <a:xfrm>
            <a:off x="2684520" y="42886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ounded Rectangle 34"/>
          <p:cNvSpPr/>
          <p:nvPr/>
        </p:nvSpPr>
        <p:spPr>
          <a:xfrm>
            <a:off x="2876760" y="3977640"/>
            <a:ext cx="1998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891b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ounded Rectangle 35"/>
          <p:cNvSpPr/>
          <p:nvPr/>
        </p:nvSpPr>
        <p:spPr>
          <a:xfrm>
            <a:off x="2986560" y="41058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36"/>
          <p:cNvSpPr/>
          <p:nvPr/>
        </p:nvSpPr>
        <p:spPr>
          <a:xfrm>
            <a:off x="3370320" y="4105800"/>
            <a:ext cx="1413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形成指标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37"/>
          <p:cNvSpPr/>
          <p:nvPr/>
        </p:nvSpPr>
        <p:spPr>
          <a:xfrm>
            <a:off x="3022920" y="4416480"/>
            <a:ext cx="1706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构建统计口径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ight Arrow 38"/>
          <p:cNvSpPr/>
          <p:nvPr/>
        </p:nvSpPr>
        <p:spPr>
          <a:xfrm>
            <a:off x="4848120" y="42886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ounded Rectangle 39"/>
          <p:cNvSpPr/>
          <p:nvPr/>
        </p:nvSpPr>
        <p:spPr>
          <a:xfrm>
            <a:off x="5040000" y="3977640"/>
            <a:ext cx="1998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6d28d9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ounded Rectangle 40"/>
          <p:cNvSpPr/>
          <p:nvPr/>
        </p:nvSpPr>
        <p:spPr>
          <a:xfrm>
            <a:off x="5149800" y="41058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41"/>
          <p:cNvSpPr/>
          <p:nvPr/>
        </p:nvSpPr>
        <p:spPr>
          <a:xfrm>
            <a:off x="5533920" y="4105800"/>
            <a:ext cx="1413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可视分析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42"/>
          <p:cNvSpPr/>
          <p:nvPr/>
        </p:nvSpPr>
        <p:spPr>
          <a:xfrm>
            <a:off x="5186520" y="4416480"/>
            <a:ext cx="1706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驾驶舱与报表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ight Arrow 43"/>
          <p:cNvSpPr/>
          <p:nvPr/>
        </p:nvSpPr>
        <p:spPr>
          <a:xfrm>
            <a:off x="7011720" y="42886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ounded Rectangle 44"/>
          <p:cNvSpPr/>
          <p:nvPr/>
        </p:nvSpPr>
        <p:spPr>
          <a:xfrm>
            <a:off x="7203600" y="3977640"/>
            <a:ext cx="1998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ea580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ounded Rectangle 45"/>
          <p:cNvSpPr/>
          <p:nvPr/>
        </p:nvSpPr>
        <p:spPr>
          <a:xfrm>
            <a:off x="7313400" y="41058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46"/>
          <p:cNvSpPr/>
          <p:nvPr/>
        </p:nvSpPr>
        <p:spPr>
          <a:xfrm>
            <a:off x="7697520" y="4105800"/>
            <a:ext cx="1413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智能决策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47"/>
          <p:cNvSpPr/>
          <p:nvPr/>
        </p:nvSpPr>
        <p:spPr>
          <a:xfrm>
            <a:off x="7350120" y="4416480"/>
            <a:ext cx="1706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问数和预测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ight Arrow 48"/>
          <p:cNvSpPr/>
          <p:nvPr/>
        </p:nvSpPr>
        <p:spPr>
          <a:xfrm>
            <a:off x="9174960" y="42886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ounded Rectangle 49"/>
          <p:cNvSpPr/>
          <p:nvPr/>
        </p:nvSpPr>
        <p:spPr>
          <a:xfrm>
            <a:off x="9367200" y="3977640"/>
            <a:ext cx="1998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d94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ounded Rectangle 50"/>
          <p:cNvSpPr/>
          <p:nvPr/>
        </p:nvSpPr>
        <p:spPr>
          <a:xfrm>
            <a:off x="9477000" y="41058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5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51"/>
          <p:cNvSpPr/>
          <p:nvPr/>
        </p:nvSpPr>
        <p:spPr>
          <a:xfrm>
            <a:off x="9860760" y="4105800"/>
            <a:ext cx="14133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闭环服务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52"/>
          <p:cNvSpPr/>
          <p:nvPr/>
        </p:nvSpPr>
        <p:spPr>
          <a:xfrm>
            <a:off x="9513360" y="4416480"/>
            <a:ext cx="1706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Agent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推动处置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当前系统能力基础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以既有业务模块为数据来源，新增统计分析层和智能服务层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04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Oval 9"/>
          <p:cNvSpPr/>
          <p:nvPr/>
        </p:nvSpPr>
        <p:spPr>
          <a:xfrm>
            <a:off x="4892040" y="2011680"/>
            <a:ext cx="2377080" cy="1645560"/>
          </a:xfrm>
          <a:prstGeom prst="ellipse">
            <a:avLst/>
          </a:prstGeom>
          <a:solidFill>
            <a:srgbClr val="0f172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5230440" y="2423160"/>
            <a:ext cx="1691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ffffff"/>
                </a:solidFill>
                <a:latin typeface="Microsoft YaHei"/>
              </a:rPr>
              <a:t>国际学生</a:t>
            </a:r>
            <a:br>
              <a:rPr sz="1800"/>
            </a:br>
            <a:r>
              <a:rPr b="1" lang="zh-CN" sz="1800" spc="-1" strike="noStrike">
                <a:solidFill>
                  <a:srgbClr val="ffffff"/>
                </a:solidFill>
                <a:latin typeface="Microsoft YaHei"/>
              </a:rPr>
              <a:t>管理系统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11"/>
          <p:cNvSpPr/>
          <p:nvPr/>
        </p:nvSpPr>
        <p:spPr>
          <a:xfrm>
            <a:off x="868680" y="1325880"/>
            <a:ext cx="1599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Rectangle 12"/>
          <p:cNvSpPr/>
          <p:nvPr/>
        </p:nvSpPr>
        <p:spPr>
          <a:xfrm>
            <a:off x="868680" y="1325880"/>
            <a:ext cx="159984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13"/>
          <p:cNvSpPr/>
          <p:nvPr/>
        </p:nvSpPr>
        <p:spPr>
          <a:xfrm>
            <a:off x="1069920" y="1508760"/>
            <a:ext cx="11973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招生管理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14"/>
          <p:cNvSpPr/>
          <p:nvPr/>
        </p:nvSpPr>
        <p:spPr>
          <a:xfrm>
            <a:off x="2834640" y="822960"/>
            <a:ext cx="1599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15"/>
          <p:cNvSpPr/>
          <p:nvPr/>
        </p:nvSpPr>
        <p:spPr>
          <a:xfrm>
            <a:off x="2834640" y="822960"/>
            <a:ext cx="1599840" cy="543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16"/>
          <p:cNvSpPr/>
          <p:nvPr/>
        </p:nvSpPr>
        <p:spPr>
          <a:xfrm>
            <a:off x="3035880" y="1005840"/>
            <a:ext cx="11973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招生审核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17"/>
          <p:cNvSpPr/>
          <p:nvPr/>
        </p:nvSpPr>
        <p:spPr>
          <a:xfrm>
            <a:off x="8183880" y="822960"/>
            <a:ext cx="1599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ectangle 18"/>
          <p:cNvSpPr/>
          <p:nvPr/>
        </p:nvSpPr>
        <p:spPr>
          <a:xfrm>
            <a:off x="8183880" y="822960"/>
            <a:ext cx="159984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9"/>
          <p:cNvSpPr/>
          <p:nvPr/>
        </p:nvSpPr>
        <p:spPr>
          <a:xfrm>
            <a:off x="8385120" y="1005840"/>
            <a:ext cx="11973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住宿安排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20"/>
          <p:cNvSpPr/>
          <p:nvPr/>
        </p:nvSpPr>
        <p:spPr>
          <a:xfrm>
            <a:off x="10058400" y="1325880"/>
            <a:ext cx="1599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Rectangle 21"/>
          <p:cNvSpPr/>
          <p:nvPr/>
        </p:nvSpPr>
        <p:spPr>
          <a:xfrm>
            <a:off x="10058400" y="1325880"/>
            <a:ext cx="159984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2"/>
          <p:cNvSpPr/>
          <p:nvPr/>
        </p:nvSpPr>
        <p:spPr>
          <a:xfrm>
            <a:off x="10259640" y="1508760"/>
            <a:ext cx="11973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费用管理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23"/>
          <p:cNvSpPr/>
          <p:nvPr/>
        </p:nvSpPr>
        <p:spPr>
          <a:xfrm>
            <a:off x="1828800" y="4389120"/>
            <a:ext cx="1599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Rectangle 24"/>
          <p:cNvSpPr/>
          <p:nvPr/>
        </p:nvSpPr>
        <p:spPr>
          <a:xfrm>
            <a:off x="1828800" y="4389120"/>
            <a:ext cx="159984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5"/>
          <p:cNvSpPr/>
          <p:nvPr/>
        </p:nvSpPr>
        <p:spPr>
          <a:xfrm>
            <a:off x="2030040" y="4572000"/>
            <a:ext cx="11973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教务管理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26"/>
          <p:cNvSpPr/>
          <p:nvPr/>
        </p:nvSpPr>
        <p:spPr>
          <a:xfrm>
            <a:off x="9052560" y="4389120"/>
            <a:ext cx="1599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27"/>
          <p:cNvSpPr/>
          <p:nvPr/>
        </p:nvSpPr>
        <p:spPr>
          <a:xfrm>
            <a:off x="9052560" y="4389120"/>
            <a:ext cx="1599840" cy="5436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28"/>
          <p:cNvSpPr/>
          <p:nvPr/>
        </p:nvSpPr>
        <p:spPr>
          <a:xfrm>
            <a:off x="9253800" y="4572000"/>
            <a:ext cx="11973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保险管理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ounded Rectangle 29"/>
          <p:cNvSpPr/>
          <p:nvPr/>
        </p:nvSpPr>
        <p:spPr>
          <a:xfrm>
            <a:off x="4572000" y="4965120"/>
            <a:ext cx="1599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30"/>
          <p:cNvSpPr/>
          <p:nvPr/>
        </p:nvSpPr>
        <p:spPr>
          <a:xfrm>
            <a:off x="4572000" y="4965120"/>
            <a:ext cx="159984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31"/>
          <p:cNvSpPr/>
          <p:nvPr/>
        </p:nvSpPr>
        <p:spPr>
          <a:xfrm>
            <a:off x="4773240" y="5148000"/>
            <a:ext cx="11973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四语种学生端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32"/>
          <p:cNvSpPr/>
          <p:nvPr/>
        </p:nvSpPr>
        <p:spPr>
          <a:xfrm>
            <a:off x="3840480" y="658440"/>
            <a:ext cx="4525920" cy="38376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1100" spc="-1" strike="noStrike">
                <a:solidFill>
                  <a:srgbClr val="ffffff"/>
                </a:solidFill>
                <a:latin typeface="Microsoft YaHei"/>
              </a:rPr>
              <a:t>新增：统计分析驾驶舱 </a:t>
            </a:r>
            <a:r>
              <a:rPr b="1" lang="en-US" sz="1100" spc="-1" strike="noStrike">
                <a:solidFill>
                  <a:srgbClr val="ffffff"/>
                </a:solidFill>
                <a:latin typeface="Microsoft YaHei"/>
              </a:rPr>
              <a:t>+ AI </a:t>
            </a:r>
            <a:r>
              <a:rPr b="1" lang="zh-CN" sz="1100" spc="-1" strike="noStrike">
                <a:solidFill>
                  <a:srgbClr val="ffffff"/>
                </a:solidFill>
                <a:latin typeface="Microsoft YaHei"/>
              </a:rPr>
              <a:t>智能体 </a:t>
            </a:r>
            <a:r>
              <a:rPr b="1" lang="en-US" sz="1100" spc="-1" strike="noStrike">
                <a:solidFill>
                  <a:srgbClr val="ffffff"/>
                </a:solidFill>
                <a:latin typeface="Microsoft YaHei"/>
              </a:rPr>
              <a:t>+ </a:t>
            </a:r>
            <a:r>
              <a:rPr b="1" lang="zh-CN" sz="1100" spc="-1" strike="noStrike">
                <a:solidFill>
                  <a:srgbClr val="ffffff"/>
                </a:solidFill>
                <a:latin typeface="Microsoft YaHei"/>
              </a:rPr>
              <a:t>风险预警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当前痛点与升级切入点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数据未被统一组织、分析和闭环利用，是本次升级的核心切入点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05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9"/>
          <p:cNvSpPr/>
          <p:nvPr/>
        </p:nvSpPr>
        <p:spPr>
          <a:xfrm>
            <a:off x="749880" y="1417320"/>
            <a:ext cx="3794400" cy="767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ectangle 10"/>
          <p:cNvSpPr/>
          <p:nvPr/>
        </p:nvSpPr>
        <p:spPr>
          <a:xfrm>
            <a:off x="749880" y="1417320"/>
            <a:ext cx="3794400" cy="54360"/>
          </a:xfrm>
          <a:prstGeom prst="rect">
            <a:avLst/>
          </a:prstGeom>
          <a:solidFill>
            <a:srgbClr val="dc26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11"/>
          <p:cNvSpPr/>
          <p:nvPr/>
        </p:nvSpPr>
        <p:spPr>
          <a:xfrm>
            <a:off x="951120" y="1600200"/>
            <a:ext cx="3391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数据分散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951120" y="2039040"/>
            <a:ext cx="33919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模块间数据口径不统一，跨部门统计耗时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ight Arrow 13"/>
          <p:cNvSpPr/>
          <p:nvPr/>
        </p:nvSpPr>
        <p:spPr>
          <a:xfrm>
            <a:off x="4773240" y="1645920"/>
            <a:ext cx="74952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ounded Rectangle 14"/>
          <p:cNvSpPr/>
          <p:nvPr/>
        </p:nvSpPr>
        <p:spPr>
          <a:xfrm>
            <a:off x="5742360" y="1417320"/>
            <a:ext cx="4845960" cy="767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Rectangle 15"/>
          <p:cNvSpPr/>
          <p:nvPr/>
        </p:nvSpPr>
        <p:spPr>
          <a:xfrm>
            <a:off x="5742360" y="1417320"/>
            <a:ext cx="484596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16"/>
          <p:cNvSpPr/>
          <p:nvPr/>
        </p:nvSpPr>
        <p:spPr>
          <a:xfrm>
            <a:off x="5943600" y="160020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统一指标体系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7"/>
          <p:cNvSpPr/>
          <p:nvPr/>
        </p:nvSpPr>
        <p:spPr>
          <a:xfrm>
            <a:off x="5943600" y="203904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建立招生、财务、教务等主题数据集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18"/>
          <p:cNvSpPr/>
          <p:nvPr/>
        </p:nvSpPr>
        <p:spPr>
          <a:xfrm>
            <a:off x="749880" y="2395800"/>
            <a:ext cx="3794400" cy="767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Rectangle 19"/>
          <p:cNvSpPr/>
          <p:nvPr/>
        </p:nvSpPr>
        <p:spPr>
          <a:xfrm>
            <a:off x="749880" y="2395800"/>
            <a:ext cx="3794400" cy="54360"/>
          </a:xfrm>
          <a:prstGeom prst="rect">
            <a:avLst/>
          </a:prstGeom>
          <a:solidFill>
            <a:srgbClr val="dc26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951120" y="2578680"/>
            <a:ext cx="3391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人工报表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21"/>
          <p:cNvSpPr/>
          <p:nvPr/>
        </p:nvSpPr>
        <p:spPr>
          <a:xfrm>
            <a:off x="951120" y="3017520"/>
            <a:ext cx="33919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月报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年报依赖手工汇总，难以实时追踪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ight Arrow 22"/>
          <p:cNvSpPr/>
          <p:nvPr/>
        </p:nvSpPr>
        <p:spPr>
          <a:xfrm>
            <a:off x="4773240" y="2624400"/>
            <a:ext cx="74952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Rounded Rectangle 23"/>
          <p:cNvSpPr/>
          <p:nvPr/>
        </p:nvSpPr>
        <p:spPr>
          <a:xfrm>
            <a:off x="5742360" y="2395800"/>
            <a:ext cx="4845960" cy="767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Rectangle 24"/>
          <p:cNvSpPr/>
          <p:nvPr/>
        </p:nvSpPr>
        <p:spPr>
          <a:xfrm>
            <a:off x="5742360" y="2395800"/>
            <a:ext cx="4845960" cy="543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25"/>
          <p:cNvSpPr/>
          <p:nvPr/>
        </p:nvSpPr>
        <p:spPr>
          <a:xfrm>
            <a:off x="5943600" y="257868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可视化驾驶舱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26"/>
          <p:cNvSpPr/>
          <p:nvPr/>
        </p:nvSpPr>
        <p:spPr>
          <a:xfrm>
            <a:off x="5943600" y="301752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实时大屏、专题报表、自助分析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27"/>
          <p:cNvSpPr/>
          <p:nvPr/>
        </p:nvSpPr>
        <p:spPr>
          <a:xfrm>
            <a:off x="749880" y="3374280"/>
            <a:ext cx="3794400" cy="767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Rectangle 28"/>
          <p:cNvSpPr/>
          <p:nvPr/>
        </p:nvSpPr>
        <p:spPr>
          <a:xfrm>
            <a:off x="749880" y="3374280"/>
            <a:ext cx="3794400" cy="54360"/>
          </a:xfrm>
          <a:prstGeom prst="rect">
            <a:avLst/>
          </a:prstGeom>
          <a:solidFill>
            <a:srgbClr val="dc26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29"/>
          <p:cNvSpPr/>
          <p:nvPr/>
        </p:nvSpPr>
        <p:spPr>
          <a:xfrm>
            <a:off x="951120" y="3557160"/>
            <a:ext cx="3391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缺少预警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30"/>
          <p:cNvSpPr/>
          <p:nvPr/>
        </p:nvSpPr>
        <p:spPr>
          <a:xfrm>
            <a:off x="951120" y="3996000"/>
            <a:ext cx="33919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欠费、签证、学业、住宿风险发现滞后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ight Arrow 31"/>
          <p:cNvSpPr/>
          <p:nvPr/>
        </p:nvSpPr>
        <p:spPr>
          <a:xfrm>
            <a:off x="4773240" y="3602880"/>
            <a:ext cx="74952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Rounded Rectangle 32"/>
          <p:cNvSpPr/>
          <p:nvPr/>
        </p:nvSpPr>
        <p:spPr>
          <a:xfrm>
            <a:off x="5742360" y="3374280"/>
            <a:ext cx="4845960" cy="767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Rectangle 33"/>
          <p:cNvSpPr/>
          <p:nvPr/>
        </p:nvSpPr>
        <p:spPr>
          <a:xfrm>
            <a:off x="5742360" y="3374280"/>
            <a:ext cx="484596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34"/>
          <p:cNvSpPr/>
          <p:nvPr/>
        </p:nvSpPr>
        <p:spPr>
          <a:xfrm>
            <a:off x="5943600" y="355716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智能预警模型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35"/>
          <p:cNvSpPr/>
          <p:nvPr/>
        </p:nvSpPr>
        <p:spPr>
          <a:xfrm>
            <a:off x="5943600" y="399600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规则 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+ AI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识别风险并推动处置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ounded Rectangle 36"/>
          <p:cNvSpPr/>
          <p:nvPr/>
        </p:nvSpPr>
        <p:spPr>
          <a:xfrm>
            <a:off x="749880" y="4352400"/>
            <a:ext cx="3794400" cy="767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Rectangle 37"/>
          <p:cNvSpPr/>
          <p:nvPr/>
        </p:nvSpPr>
        <p:spPr>
          <a:xfrm>
            <a:off x="749880" y="4352400"/>
            <a:ext cx="3794400" cy="54360"/>
          </a:xfrm>
          <a:prstGeom prst="rect">
            <a:avLst/>
          </a:prstGeom>
          <a:solidFill>
            <a:srgbClr val="dc26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38"/>
          <p:cNvSpPr/>
          <p:nvPr/>
        </p:nvSpPr>
        <p:spPr>
          <a:xfrm>
            <a:off x="951120" y="4535280"/>
            <a:ext cx="3391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服务压力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39"/>
          <p:cNvSpPr/>
          <p:nvPr/>
        </p:nvSpPr>
        <p:spPr>
          <a:xfrm>
            <a:off x="951120" y="4974480"/>
            <a:ext cx="33919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学生咨询重复，跨语言沟通成本较高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ight Arrow 40"/>
          <p:cNvSpPr/>
          <p:nvPr/>
        </p:nvSpPr>
        <p:spPr>
          <a:xfrm>
            <a:off x="4773240" y="4581000"/>
            <a:ext cx="74952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ounded Rectangle 41"/>
          <p:cNvSpPr/>
          <p:nvPr/>
        </p:nvSpPr>
        <p:spPr>
          <a:xfrm>
            <a:off x="5742360" y="4352400"/>
            <a:ext cx="4845960" cy="767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Rectangle 42"/>
          <p:cNvSpPr/>
          <p:nvPr/>
        </p:nvSpPr>
        <p:spPr>
          <a:xfrm>
            <a:off x="5742360" y="4352400"/>
            <a:ext cx="484596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43"/>
          <p:cNvSpPr/>
          <p:nvPr/>
        </p:nvSpPr>
        <p:spPr>
          <a:xfrm>
            <a:off x="5943600" y="453528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多语言 </a:t>
            </a: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助手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44"/>
          <p:cNvSpPr/>
          <p:nvPr/>
        </p:nvSpPr>
        <p:spPr>
          <a:xfrm>
            <a:off x="5943600" y="497448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四语种问答、业务指引、数据查询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建设目标：四类能力一体化升级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让管理者看得见、问得出、预判准、办得快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06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ounded Rectangle 9"/>
          <p:cNvSpPr/>
          <p:nvPr/>
        </p:nvSpPr>
        <p:spPr>
          <a:xfrm>
            <a:off x="685800" y="1417320"/>
            <a:ext cx="2486880" cy="420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10"/>
          <p:cNvSpPr/>
          <p:nvPr/>
        </p:nvSpPr>
        <p:spPr>
          <a:xfrm>
            <a:off x="685800" y="1417320"/>
            <a:ext cx="248688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11"/>
          <p:cNvSpPr/>
          <p:nvPr/>
        </p:nvSpPr>
        <p:spPr>
          <a:xfrm>
            <a:off x="887040" y="1600200"/>
            <a:ext cx="20844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数据驾驶舱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887040" y="2020680"/>
            <a:ext cx="208440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招生趋势、国家分布、在校规模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缴费率、欠费、住宿、保险状态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大屏、专题报表、移动端概览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13"/>
          <p:cNvSpPr/>
          <p:nvPr/>
        </p:nvSpPr>
        <p:spPr>
          <a:xfrm>
            <a:off x="887040" y="1847160"/>
            <a:ext cx="1462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2563eb"/>
                </a:solidFill>
                <a:latin typeface="Microsoft YaHei"/>
              </a:rPr>
              <a:t>看得见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ounded Rectangle 14"/>
          <p:cNvSpPr/>
          <p:nvPr/>
        </p:nvSpPr>
        <p:spPr>
          <a:xfrm>
            <a:off x="3502080" y="1417320"/>
            <a:ext cx="2486880" cy="420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Rectangle 15"/>
          <p:cNvSpPr/>
          <p:nvPr/>
        </p:nvSpPr>
        <p:spPr>
          <a:xfrm>
            <a:off x="3502080" y="1417320"/>
            <a:ext cx="248688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16"/>
          <p:cNvSpPr/>
          <p:nvPr/>
        </p:nvSpPr>
        <p:spPr>
          <a:xfrm>
            <a:off x="3703320" y="1600200"/>
            <a:ext cx="20844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智能分析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7"/>
          <p:cNvSpPr/>
          <p:nvPr/>
        </p:nvSpPr>
        <p:spPr>
          <a:xfrm>
            <a:off x="3703320" y="2020680"/>
            <a:ext cx="208440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自然语言问数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自动生成图表和分析结论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辅助领导决策和部门汇报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8"/>
          <p:cNvSpPr/>
          <p:nvPr/>
        </p:nvSpPr>
        <p:spPr>
          <a:xfrm>
            <a:off x="3703320" y="1847160"/>
            <a:ext cx="1462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6d28d9"/>
                </a:solidFill>
                <a:latin typeface="Microsoft YaHei"/>
              </a:rPr>
              <a:t>问得出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ounded Rectangle 19"/>
          <p:cNvSpPr/>
          <p:nvPr/>
        </p:nvSpPr>
        <p:spPr>
          <a:xfrm>
            <a:off x="6318360" y="1417320"/>
            <a:ext cx="2486880" cy="420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Rectangle 20"/>
          <p:cNvSpPr/>
          <p:nvPr/>
        </p:nvSpPr>
        <p:spPr>
          <a:xfrm>
            <a:off x="6318360" y="1417320"/>
            <a:ext cx="248688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21"/>
          <p:cNvSpPr/>
          <p:nvPr/>
        </p:nvSpPr>
        <p:spPr>
          <a:xfrm>
            <a:off x="6519600" y="1600200"/>
            <a:ext cx="20844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智能风险预警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22"/>
          <p:cNvSpPr/>
          <p:nvPr/>
        </p:nvSpPr>
        <p:spPr>
          <a:xfrm>
            <a:off x="6519600" y="2020680"/>
            <a:ext cx="208440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欠费、签证到期、学业异常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住宿异常、保险缺失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分级预警和责任人推送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23"/>
          <p:cNvSpPr/>
          <p:nvPr/>
        </p:nvSpPr>
        <p:spPr>
          <a:xfrm>
            <a:off x="6519600" y="1847160"/>
            <a:ext cx="1462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ea580c"/>
                </a:solidFill>
                <a:latin typeface="Microsoft YaHei"/>
              </a:rPr>
              <a:t>预判准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24"/>
          <p:cNvSpPr/>
          <p:nvPr/>
        </p:nvSpPr>
        <p:spPr>
          <a:xfrm>
            <a:off x="9135000" y="1417320"/>
            <a:ext cx="2486880" cy="420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Rectangle 25"/>
          <p:cNvSpPr/>
          <p:nvPr/>
        </p:nvSpPr>
        <p:spPr>
          <a:xfrm>
            <a:off x="9135000" y="1417320"/>
            <a:ext cx="248688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26"/>
          <p:cNvSpPr/>
          <p:nvPr/>
        </p:nvSpPr>
        <p:spPr>
          <a:xfrm>
            <a:off x="9335880" y="1600200"/>
            <a:ext cx="20844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多语言 </a:t>
            </a: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AI Agent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27"/>
          <p:cNvSpPr/>
          <p:nvPr/>
        </p:nvSpPr>
        <p:spPr>
          <a:xfrm>
            <a:off x="9335880" y="2020680"/>
            <a:ext cx="208440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中英日韩四语种咨询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自动指引流程和材料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触发工单、通知与跟进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28"/>
          <p:cNvSpPr/>
          <p:nvPr/>
        </p:nvSpPr>
        <p:spPr>
          <a:xfrm>
            <a:off x="9335880" y="1847160"/>
            <a:ext cx="1462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800" spc="-1" strike="noStrike">
                <a:solidFill>
                  <a:srgbClr val="0d9488"/>
                </a:solidFill>
                <a:latin typeface="Microsoft YaHei"/>
              </a:rPr>
              <a:t>办得快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总体建设架构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在现有业务系统之上叠加数据统计、智能分析和智能体应用层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07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Rounded Rectangle 9"/>
          <p:cNvSpPr/>
          <p:nvPr/>
        </p:nvSpPr>
        <p:spPr>
          <a:xfrm>
            <a:off x="777240" y="1298520"/>
            <a:ext cx="1065240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Rectangle 10"/>
          <p:cNvSpPr/>
          <p:nvPr/>
        </p:nvSpPr>
        <p:spPr>
          <a:xfrm>
            <a:off x="777240" y="1298520"/>
            <a:ext cx="1065240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11"/>
          <p:cNvSpPr/>
          <p:nvPr/>
        </p:nvSpPr>
        <p:spPr>
          <a:xfrm>
            <a:off x="978480" y="1481400"/>
            <a:ext cx="10249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用户层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Rounded Rectangle 12"/>
          <p:cNvSpPr/>
          <p:nvPr/>
        </p:nvSpPr>
        <p:spPr>
          <a:xfrm>
            <a:off x="960120" y="1444680"/>
            <a:ext cx="1188360" cy="31068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用户层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Rounded Rectangle 13"/>
          <p:cNvSpPr/>
          <p:nvPr/>
        </p:nvSpPr>
        <p:spPr>
          <a:xfrm>
            <a:off x="2423160" y="14540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领导驾驶舱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ounded Rectangle 14"/>
          <p:cNvSpPr/>
          <p:nvPr/>
        </p:nvSpPr>
        <p:spPr>
          <a:xfrm>
            <a:off x="3840480" y="14540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招生教师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ounded Rectangle 15"/>
          <p:cNvSpPr/>
          <p:nvPr/>
        </p:nvSpPr>
        <p:spPr>
          <a:xfrm>
            <a:off x="5257800" y="14540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财务人员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Rounded Rectangle 16"/>
          <p:cNvSpPr/>
          <p:nvPr/>
        </p:nvSpPr>
        <p:spPr>
          <a:xfrm>
            <a:off x="6675120" y="14540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辅导员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ounded Rectangle 17"/>
          <p:cNvSpPr/>
          <p:nvPr/>
        </p:nvSpPr>
        <p:spPr>
          <a:xfrm>
            <a:off x="8092440" y="14540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国际学生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ounded Rectangle 18"/>
          <p:cNvSpPr/>
          <p:nvPr/>
        </p:nvSpPr>
        <p:spPr>
          <a:xfrm>
            <a:off x="9509760" y="14540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管理员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ounded Rectangle 19"/>
          <p:cNvSpPr/>
          <p:nvPr/>
        </p:nvSpPr>
        <p:spPr>
          <a:xfrm>
            <a:off x="777240" y="2139840"/>
            <a:ext cx="1065240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Rectangle 20"/>
          <p:cNvSpPr/>
          <p:nvPr/>
        </p:nvSpPr>
        <p:spPr>
          <a:xfrm>
            <a:off x="777240" y="2139840"/>
            <a:ext cx="1065240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21"/>
          <p:cNvSpPr/>
          <p:nvPr/>
        </p:nvSpPr>
        <p:spPr>
          <a:xfrm>
            <a:off x="978480" y="2322720"/>
            <a:ext cx="10249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应用层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ounded Rectangle 22"/>
          <p:cNvSpPr/>
          <p:nvPr/>
        </p:nvSpPr>
        <p:spPr>
          <a:xfrm>
            <a:off x="960120" y="2286000"/>
            <a:ext cx="1188360" cy="31068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应用层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Rounded Rectangle 23"/>
          <p:cNvSpPr/>
          <p:nvPr/>
        </p:nvSpPr>
        <p:spPr>
          <a:xfrm>
            <a:off x="2423160" y="229500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数据大屏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ounded Rectangle 24"/>
          <p:cNvSpPr/>
          <p:nvPr/>
        </p:nvSpPr>
        <p:spPr>
          <a:xfrm>
            <a:off x="3840480" y="229500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专题报表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ounded Rectangle 25"/>
          <p:cNvSpPr/>
          <p:nvPr/>
        </p:nvSpPr>
        <p:spPr>
          <a:xfrm>
            <a:off x="5257800" y="229500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问数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ounded Rectangle 26"/>
          <p:cNvSpPr/>
          <p:nvPr/>
        </p:nvSpPr>
        <p:spPr>
          <a:xfrm>
            <a:off x="6675120" y="229500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智能预警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ounded Rectangle 27"/>
          <p:cNvSpPr/>
          <p:nvPr/>
        </p:nvSpPr>
        <p:spPr>
          <a:xfrm>
            <a:off x="8092440" y="229500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助手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ounded Rectangle 28"/>
          <p:cNvSpPr/>
          <p:nvPr/>
        </p:nvSpPr>
        <p:spPr>
          <a:xfrm>
            <a:off x="9509760" y="229500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0f172a"/>
                </a:solidFill>
                <a:latin typeface="Microsoft YaHei"/>
              </a:rPr>
              <a:t>Agent </a:t>
            </a: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工单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ounded Rectangle 29"/>
          <p:cNvSpPr/>
          <p:nvPr/>
        </p:nvSpPr>
        <p:spPr>
          <a:xfrm>
            <a:off x="777240" y="2980800"/>
            <a:ext cx="1065240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Rectangle 30"/>
          <p:cNvSpPr/>
          <p:nvPr/>
        </p:nvSpPr>
        <p:spPr>
          <a:xfrm>
            <a:off x="777240" y="2980800"/>
            <a:ext cx="10652400" cy="543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TextBox 31"/>
          <p:cNvSpPr/>
          <p:nvPr/>
        </p:nvSpPr>
        <p:spPr>
          <a:xfrm>
            <a:off x="978480" y="3163680"/>
            <a:ext cx="10249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分析层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ounded Rectangle 32"/>
          <p:cNvSpPr/>
          <p:nvPr/>
        </p:nvSpPr>
        <p:spPr>
          <a:xfrm>
            <a:off x="960120" y="3127320"/>
            <a:ext cx="1188360" cy="31068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分析层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Rounded Rectangle 33"/>
          <p:cNvSpPr/>
          <p:nvPr/>
        </p:nvSpPr>
        <p:spPr>
          <a:xfrm>
            <a:off x="2423160" y="313632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指标体系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ounded Rectangle 34"/>
          <p:cNvSpPr/>
          <p:nvPr/>
        </p:nvSpPr>
        <p:spPr>
          <a:xfrm>
            <a:off x="3840480" y="313632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多维分析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ounded Rectangle 35"/>
          <p:cNvSpPr/>
          <p:nvPr/>
        </p:nvSpPr>
        <p:spPr>
          <a:xfrm>
            <a:off x="5257800" y="313632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预测模型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ounded Rectangle 36"/>
          <p:cNvSpPr/>
          <p:nvPr/>
        </p:nvSpPr>
        <p:spPr>
          <a:xfrm>
            <a:off x="6675120" y="313632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画像标签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ounded Rectangle 37"/>
          <p:cNvSpPr/>
          <p:nvPr/>
        </p:nvSpPr>
        <p:spPr>
          <a:xfrm>
            <a:off x="8092440" y="313632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知识库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ounded Rectangle 38"/>
          <p:cNvSpPr/>
          <p:nvPr/>
        </p:nvSpPr>
        <p:spPr>
          <a:xfrm>
            <a:off x="9509760" y="313632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权限策略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ounded Rectangle 39"/>
          <p:cNvSpPr/>
          <p:nvPr/>
        </p:nvSpPr>
        <p:spPr>
          <a:xfrm>
            <a:off x="777240" y="3822120"/>
            <a:ext cx="1065240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ectangle 40"/>
          <p:cNvSpPr/>
          <p:nvPr/>
        </p:nvSpPr>
        <p:spPr>
          <a:xfrm>
            <a:off x="777240" y="3822120"/>
            <a:ext cx="1065240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41"/>
          <p:cNvSpPr/>
          <p:nvPr/>
        </p:nvSpPr>
        <p:spPr>
          <a:xfrm>
            <a:off x="978480" y="4005000"/>
            <a:ext cx="10249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业务层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ounded Rectangle 42"/>
          <p:cNvSpPr/>
          <p:nvPr/>
        </p:nvSpPr>
        <p:spPr>
          <a:xfrm>
            <a:off x="960120" y="3968640"/>
            <a:ext cx="1188360" cy="3106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业务层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43"/>
          <p:cNvSpPr/>
          <p:nvPr/>
        </p:nvSpPr>
        <p:spPr>
          <a:xfrm>
            <a:off x="2423160" y="39776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招生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Rounded Rectangle 44"/>
          <p:cNvSpPr/>
          <p:nvPr/>
        </p:nvSpPr>
        <p:spPr>
          <a:xfrm>
            <a:off x="3840480" y="39776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审核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ounded Rectangle 45"/>
          <p:cNvSpPr/>
          <p:nvPr/>
        </p:nvSpPr>
        <p:spPr>
          <a:xfrm>
            <a:off x="5257800" y="39776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住宿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Rounded Rectangle 46"/>
          <p:cNvSpPr/>
          <p:nvPr/>
        </p:nvSpPr>
        <p:spPr>
          <a:xfrm>
            <a:off x="6675120" y="39776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费用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ounded Rectangle 47"/>
          <p:cNvSpPr/>
          <p:nvPr/>
        </p:nvSpPr>
        <p:spPr>
          <a:xfrm>
            <a:off x="8092440" y="39776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教务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ounded Rectangle 48"/>
          <p:cNvSpPr/>
          <p:nvPr/>
        </p:nvSpPr>
        <p:spPr>
          <a:xfrm>
            <a:off x="9509760" y="397764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保险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ounded Rectangle 49"/>
          <p:cNvSpPr/>
          <p:nvPr/>
        </p:nvSpPr>
        <p:spPr>
          <a:xfrm>
            <a:off x="777240" y="4663440"/>
            <a:ext cx="1065240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Rectangle 50"/>
          <p:cNvSpPr/>
          <p:nvPr/>
        </p:nvSpPr>
        <p:spPr>
          <a:xfrm>
            <a:off x="777240" y="4663440"/>
            <a:ext cx="1065240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51"/>
          <p:cNvSpPr/>
          <p:nvPr/>
        </p:nvSpPr>
        <p:spPr>
          <a:xfrm>
            <a:off x="978480" y="4846320"/>
            <a:ext cx="10249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数据层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ounded Rectangle 52"/>
          <p:cNvSpPr/>
          <p:nvPr/>
        </p:nvSpPr>
        <p:spPr>
          <a:xfrm>
            <a:off x="960120" y="4809600"/>
            <a:ext cx="1188360" cy="31068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数据层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Rounded Rectangle 53"/>
          <p:cNvSpPr/>
          <p:nvPr/>
        </p:nvSpPr>
        <p:spPr>
          <a:xfrm>
            <a:off x="2423160" y="481896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0f172a"/>
                </a:solidFill>
                <a:latin typeface="Microsoft YaHei"/>
              </a:rPr>
              <a:t>MySQL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ounded Rectangle 54"/>
          <p:cNvSpPr/>
          <p:nvPr/>
        </p:nvSpPr>
        <p:spPr>
          <a:xfrm>
            <a:off x="3840480" y="481896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0f172a"/>
                </a:solidFill>
                <a:latin typeface="Microsoft YaHei"/>
              </a:rPr>
              <a:t>PostgreSQL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Rounded Rectangle 55"/>
          <p:cNvSpPr/>
          <p:nvPr/>
        </p:nvSpPr>
        <p:spPr>
          <a:xfrm>
            <a:off x="5257800" y="481896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0f172a"/>
                </a:solidFill>
                <a:latin typeface="Microsoft YaHei"/>
              </a:rPr>
              <a:t>Redis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ounded Rectangle 56"/>
          <p:cNvSpPr/>
          <p:nvPr/>
        </p:nvSpPr>
        <p:spPr>
          <a:xfrm>
            <a:off x="6675120" y="481896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日志数据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Rounded Rectangle 57"/>
          <p:cNvSpPr/>
          <p:nvPr/>
        </p:nvSpPr>
        <p:spPr>
          <a:xfrm>
            <a:off x="8092440" y="481896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文件资料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ounded Rectangle 58"/>
          <p:cNvSpPr/>
          <p:nvPr/>
        </p:nvSpPr>
        <p:spPr>
          <a:xfrm>
            <a:off x="9509760" y="4818960"/>
            <a:ext cx="1234080" cy="292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外部接口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ounded Rectangle 59"/>
          <p:cNvSpPr/>
          <p:nvPr/>
        </p:nvSpPr>
        <p:spPr>
          <a:xfrm>
            <a:off x="914400" y="5596200"/>
            <a:ext cx="23907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ounded Rectangle 60"/>
          <p:cNvSpPr/>
          <p:nvPr/>
        </p:nvSpPr>
        <p:spPr>
          <a:xfrm>
            <a:off x="1024200" y="57240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Box 61"/>
          <p:cNvSpPr/>
          <p:nvPr/>
        </p:nvSpPr>
        <p:spPr>
          <a:xfrm>
            <a:off x="1408320" y="5724000"/>
            <a:ext cx="18057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采集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62"/>
          <p:cNvSpPr/>
          <p:nvPr/>
        </p:nvSpPr>
        <p:spPr>
          <a:xfrm>
            <a:off x="1060560" y="6035040"/>
            <a:ext cx="2098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业务数据同步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ight Arrow 63"/>
          <p:cNvSpPr/>
          <p:nvPr/>
        </p:nvSpPr>
        <p:spPr>
          <a:xfrm>
            <a:off x="3278160" y="59068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Rounded Rectangle 64"/>
          <p:cNvSpPr/>
          <p:nvPr/>
        </p:nvSpPr>
        <p:spPr>
          <a:xfrm>
            <a:off x="3470040" y="5596200"/>
            <a:ext cx="23907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891b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Rounded Rectangle 65"/>
          <p:cNvSpPr/>
          <p:nvPr/>
        </p:nvSpPr>
        <p:spPr>
          <a:xfrm>
            <a:off x="3579840" y="57240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66"/>
          <p:cNvSpPr/>
          <p:nvPr/>
        </p:nvSpPr>
        <p:spPr>
          <a:xfrm>
            <a:off x="3963960" y="5724000"/>
            <a:ext cx="18057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治理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67"/>
          <p:cNvSpPr/>
          <p:nvPr/>
        </p:nvSpPr>
        <p:spPr>
          <a:xfrm>
            <a:off x="3616560" y="6035040"/>
            <a:ext cx="2098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口径与权限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ight Arrow 68"/>
          <p:cNvSpPr/>
          <p:nvPr/>
        </p:nvSpPr>
        <p:spPr>
          <a:xfrm>
            <a:off x="5833800" y="59068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Rounded Rectangle 69"/>
          <p:cNvSpPr/>
          <p:nvPr/>
        </p:nvSpPr>
        <p:spPr>
          <a:xfrm>
            <a:off x="6026040" y="5596200"/>
            <a:ext cx="23907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6d28d9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Rounded Rectangle 70"/>
          <p:cNvSpPr/>
          <p:nvPr/>
        </p:nvSpPr>
        <p:spPr>
          <a:xfrm>
            <a:off x="6135480" y="57240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Box 71"/>
          <p:cNvSpPr/>
          <p:nvPr/>
        </p:nvSpPr>
        <p:spPr>
          <a:xfrm>
            <a:off x="6519600" y="5724000"/>
            <a:ext cx="18057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分析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72"/>
          <p:cNvSpPr/>
          <p:nvPr/>
        </p:nvSpPr>
        <p:spPr>
          <a:xfrm>
            <a:off x="6172200" y="6035040"/>
            <a:ext cx="2098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统计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模型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ight Arrow 73"/>
          <p:cNvSpPr/>
          <p:nvPr/>
        </p:nvSpPr>
        <p:spPr>
          <a:xfrm>
            <a:off x="8389800" y="59068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Rounded Rectangle 74"/>
          <p:cNvSpPr/>
          <p:nvPr/>
        </p:nvSpPr>
        <p:spPr>
          <a:xfrm>
            <a:off x="8581680" y="5596200"/>
            <a:ext cx="23907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d94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Rounded Rectangle 75"/>
          <p:cNvSpPr/>
          <p:nvPr/>
        </p:nvSpPr>
        <p:spPr>
          <a:xfrm>
            <a:off x="8691480" y="57240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Box 76"/>
          <p:cNvSpPr/>
          <p:nvPr/>
        </p:nvSpPr>
        <p:spPr>
          <a:xfrm>
            <a:off x="9075600" y="5724000"/>
            <a:ext cx="18057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服务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77"/>
          <p:cNvSpPr/>
          <p:nvPr/>
        </p:nvSpPr>
        <p:spPr>
          <a:xfrm>
            <a:off x="8727840" y="6035040"/>
            <a:ext cx="2098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大屏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/Agent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2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数据统计驾驶舱：一屏掌握国际学生运营态势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建议作为新增一级功能入口，支持领导视图、部门视图和专题视图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08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Rounded Rectangle 9"/>
          <p:cNvSpPr/>
          <p:nvPr/>
        </p:nvSpPr>
        <p:spPr>
          <a:xfrm>
            <a:off x="685800" y="1325880"/>
            <a:ext cx="6537600" cy="45259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Rounded Rectangle 10"/>
          <p:cNvSpPr/>
          <p:nvPr/>
        </p:nvSpPr>
        <p:spPr>
          <a:xfrm>
            <a:off x="932760" y="1627560"/>
            <a:ext cx="13255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11"/>
          <p:cNvSpPr/>
          <p:nvPr/>
        </p:nvSpPr>
        <p:spPr>
          <a:xfrm>
            <a:off x="1051560" y="1710000"/>
            <a:ext cx="1087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891b2"/>
                </a:solidFill>
                <a:latin typeface="Microsoft YaHei"/>
              </a:rPr>
              <a:t>2,486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12"/>
          <p:cNvSpPr/>
          <p:nvPr/>
        </p:nvSpPr>
        <p:spPr>
          <a:xfrm>
            <a:off x="1051560" y="2048400"/>
            <a:ext cx="10879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在校学生 </a:t>
            </a:r>
            <a:r>
              <a:rPr b="0" lang="en-US" sz="850" spc="-1" strike="noStrike">
                <a:solidFill>
                  <a:srgbClr val="64748b"/>
                </a:solidFill>
                <a:latin typeface="Microsoft YaHei"/>
              </a:rPr>
              <a:t>+8.2%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Rounded Rectangle 13"/>
          <p:cNvSpPr/>
          <p:nvPr/>
        </p:nvSpPr>
        <p:spPr>
          <a:xfrm>
            <a:off x="2423160" y="1627560"/>
            <a:ext cx="13255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TextBox 14"/>
          <p:cNvSpPr/>
          <p:nvPr/>
        </p:nvSpPr>
        <p:spPr>
          <a:xfrm>
            <a:off x="2541960" y="1710000"/>
            <a:ext cx="1087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563eb"/>
                </a:solidFill>
                <a:latin typeface="Microsoft YaHei"/>
              </a:rPr>
              <a:t>1,268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15"/>
          <p:cNvSpPr/>
          <p:nvPr/>
        </p:nvSpPr>
        <p:spPr>
          <a:xfrm>
            <a:off x="2541960" y="2048400"/>
            <a:ext cx="10879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报名人数 </a:t>
            </a:r>
            <a:r>
              <a:rPr b="0" lang="en-US" sz="850" spc="-1" strike="noStrike">
                <a:solidFill>
                  <a:srgbClr val="64748b"/>
                </a:solidFill>
                <a:latin typeface="Microsoft YaHei"/>
              </a:rPr>
              <a:t>+12%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Rounded Rectangle 16"/>
          <p:cNvSpPr/>
          <p:nvPr/>
        </p:nvSpPr>
        <p:spPr>
          <a:xfrm>
            <a:off x="3913560" y="1627560"/>
            <a:ext cx="13255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17"/>
          <p:cNvSpPr/>
          <p:nvPr/>
        </p:nvSpPr>
        <p:spPr>
          <a:xfrm>
            <a:off x="4032360" y="1710000"/>
            <a:ext cx="1087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6a34a"/>
                </a:solidFill>
                <a:latin typeface="Microsoft YaHei"/>
              </a:rPr>
              <a:t>91.6%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18"/>
          <p:cNvSpPr/>
          <p:nvPr/>
        </p:nvSpPr>
        <p:spPr>
          <a:xfrm>
            <a:off x="4032360" y="2048400"/>
            <a:ext cx="10879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缴费率 </a:t>
            </a:r>
            <a:r>
              <a:rPr b="0" lang="en-US" sz="850" spc="-1" strike="noStrike">
                <a:solidFill>
                  <a:srgbClr val="64748b"/>
                </a:solidFill>
                <a:latin typeface="Microsoft YaHei"/>
              </a:rPr>
              <a:t>+3.4%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Rounded Rectangle 19"/>
          <p:cNvSpPr/>
          <p:nvPr/>
        </p:nvSpPr>
        <p:spPr>
          <a:xfrm>
            <a:off x="5403960" y="1627560"/>
            <a:ext cx="13255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TextBox 20"/>
          <p:cNvSpPr/>
          <p:nvPr/>
        </p:nvSpPr>
        <p:spPr>
          <a:xfrm>
            <a:off x="5523120" y="1710000"/>
            <a:ext cx="1087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Microsoft YaHei"/>
              </a:rPr>
              <a:t>38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21"/>
          <p:cNvSpPr/>
          <p:nvPr/>
        </p:nvSpPr>
        <p:spPr>
          <a:xfrm>
            <a:off x="5523120" y="2048400"/>
            <a:ext cx="10879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风险预警 待处理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Rounded Rectangle 22"/>
          <p:cNvSpPr/>
          <p:nvPr/>
        </p:nvSpPr>
        <p:spPr>
          <a:xfrm>
            <a:off x="932760" y="2606040"/>
            <a:ext cx="278856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600">
            <a:solidFill>
              <a:srgbClr val="334155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TextBox 23"/>
          <p:cNvSpPr/>
          <p:nvPr/>
        </p:nvSpPr>
        <p:spPr>
          <a:xfrm>
            <a:off x="1078920" y="2788920"/>
            <a:ext cx="2285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招生趋势分析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ectangle 24"/>
          <p:cNvSpPr/>
          <p:nvPr/>
        </p:nvSpPr>
        <p:spPr>
          <a:xfrm>
            <a:off x="1143000" y="4037040"/>
            <a:ext cx="484200" cy="3168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Rectangle 25"/>
          <p:cNvSpPr/>
          <p:nvPr/>
        </p:nvSpPr>
        <p:spPr>
          <a:xfrm>
            <a:off x="1600200" y="3909240"/>
            <a:ext cx="456840" cy="3168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Rectangle 26"/>
          <p:cNvSpPr/>
          <p:nvPr/>
        </p:nvSpPr>
        <p:spPr>
          <a:xfrm>
            <a:off x="2030040" y="3717000"/>
            <a:ext cx="447840" cy="3168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Rectangle 27"/>
          <p:cNvSpPr/>
          <p:nvPr/>
        </p:nvSpPr>
        <p:spPr>
          <a:xfrm>
            <a:off x="2450520" y="3502080"/>
            <a:ext cx="429480" cy="3168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ectangle 28"/>
          <p:cNvSpPr/>
          <p:nvPr/>
        </p:nvSpPr>
        <p:spPr>
          <a:xfrm>
            <a:off x="2853000" y="3282840"/>
            <a:ext cx="447840" cy="3168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Oval 29"/>
          <p:cNvSpPr/>
          <p:nvPr/>
        </p:nvSpPr>
        <p:spPr>
          <a:xfrm>
            <a:off x="1106280" y="4197240"/>
            <a:ext cx="72720" cy="7272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Oval 30"/>
          <p:cNvSpPr/>
          <p:nvPr/>
        </p:nvSpPr>
        <p:spPr>
          <a:xfrm>
            <a:off x="1563480" y="3803760"/>
            <a:ext cx="72720" cy="7272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Oval 31"/>
          <p:cNvSpPr/>
          <p:nvPr/>
        </p:nvSpPr>
        <p:spPr>
          <a:xfrm>
            <a:off x="1993320" y="3940920"/>
            <a:ext cx="72720" cy="7272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Oval 32"/>
          <p:cNvSpPr/>
          <p:nvPr/>
        </p:nvSpPr>
        <p:spPr>
          <a:xfrm>
            <a:off x="2414160" y="3420000"/>
            <a:ext cx="72720" cy="7272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Oval 33"/>
          <p:cNvSpPr/>
          <p:nvPr/>
        </p:nvSpPr>
        <p:spPr>
          <a:xfrm>
            <a:off x="2816280" y="3511440"/>
            <a:ext cx="72720" cy="7272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Oval 34"/>
          <p:cNvSpPr/>
          <p:nvPr/>
        </p:nvSpPr>
        <p:spPr>
          <a:xfrm>
            <a:off x="3237120" y="2980800"/>
            <a:ext cx="72720" cy="72720"/>
          </a:xfrm>
          <a:prstGeom prst="ellipse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35"/>
          <p:cNvSpPr/>
          <p:nvPr/>
        </p:nvSpPr>
        <p:spPr>
          <a:xfrm>
            <a:off x="4251960" y="2788920"/>
            <a:ext cx="2377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国家</a:t>
            </a: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/</a:t>
            </a: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地区来源分布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36"/>
          <p:cNvSpPr/>
          <p:nvPr/>
        </p:nvSpPr>
        <p:spPr>
          <a:xfrm>
            <a:off x="4160520" y="3200400"/>
            <a:ext cx="502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20" spc="-1" strike="noStrike">
                <a:solidFill>
                  <a:srgbClr val="ffffff"/>
                </a:solidFill>
                <a:latin typeface="Microsoft YaHei"/>
              </a:rPr>
              <a:t>亚洲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ounded Rectangle 37"/>
          <p:cNvSpPr/>
          <p:nvPr/>
        </p:nvSpPr>
        <p:spPr>
          <a:xfrm>
            <a:off x="4709160" y="3237120"/>
            <a:ext cx="1462680" cy="9108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Rounded Rectangle 38"/>
          <p:cNvSpPr/>
          <p:nvPr/>
        </p:nvSpPr>
        <p:spPr>
          <a:xfrm>
            <a:off x="4709160" y="3237120"/>
            <a:ext cx="1337400" cy="9108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39"/>
          <p:cNvSpPr/>
          <p:nvPr/>
        </p:nvSpPr>
        <p:spPr>
          <a:xfrm>
            <a:off x="4160520" y="3502080"/>
            <a:ext cx="502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20" spc="-1" strike="noStrike">
                <a:solidFill>
                  <a:srgbClr val="ffffff"/>
                </a:solidFill>
                <a:latin typeface="Microsoft YaHei"/>
              </a:rPr>
              <a:t>非洲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ounded Rectangle 40"/>
          <p:cNvSpPr/>
          <p:nvPr/>
        </p:nvSpPr>
        <p:spPr>
          <a:xfrm>
            <a:off x="4709160" y="3538800"/>
            <a:ext cx="1462680" cy="9108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Rounded Rectangle 41"/>
          <p:cNvSpPr/>
          <p:nvPr/>
        </p:nvSpPr>
        <p:spPr>
          <a:xfrm>
            <a:off x="4709160" y="3538800"/>
            <a:ext cx="1002960" cy="9108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TextBox 42"/>
          <p:cNvSpPr/>
          <p:nvPr/>
        </p:nvSpPr>
        <p:spPr>
          <a:xfrm>
            <a:off x="4160520" y="3803760"/>
            <a:ext cx="502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20" spc="-1" strike="noStrike">
                <a:solidFill>
                  <a:srgbClr val="ffffff"/>
                </a:solidFill>
                <a:latin typeface="Microsoft YaHei"/>
              </a:rPr>
              <a:t>欧洲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ounded Rectangle 43"/>
          <p:cNvSpPr/>
          <p:nvPr/>
        </p:nvSpPr>
        <p:spPr>
          <a:xfrm>
            <a:off x="4709160" y="3840480"/>
            <a:ext cx="1462680" cy="9108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Rounded Rectangle 44"/>
          <p:cNvSpPr/>
          <p:nvPr/>
        </p:nvSpPr>
        <p:spPr>
          <a:xfrm>
            <a:off x="4709160" y="3840480"/>
            <a:ext cx="752040" cy="9108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45"/>
          <p:cNvSpPr/>
          <p:nvPr/>
        </p:nvSpPr>
        <p:spPr>
          <a:xfrm>
            <a:off x="4160520" y="4105800"/>
            <a:ext cx="502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20" spc="-1" strike="noStrike">
                <a:solidFill>
                  <a:srgbClr val="ffffff"/>
                </a:solidFill>
                <a:latin typeface="Microsoft YaHei"/>
              </a:rPr>
              <a:t>美洲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Rounded Rectangle 46"/>
          <p:cNvSpPr/>
          <p:nvPr/>
        </p:nvSpPr>
        <p:spPr>
          <a:xfrm>
            <a:off x="4709160" y="4142160"/>
            <a:ext cx="1462680" cy="9108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Rounded Rectangle 47"/>
          <p:cNvSpPr/>
          <p:nvPr/>
        </p:nvSpPr>
        <p:spPr>
          <a:xfrm>
            <a:off x="4709160" y="4142160"/>
            <a:ext cx="626760" cy="910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TextBox 48"/>
          <p:cNvSpPr/>
          <p:nvPr/>
        </p:nvSpPr>
        <p:spPr>
          <a:xfrm>
            <a:off x="4160520" y="4407480"/>
            <a:ext cx="502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20" spc="-1" strike="noStrike">
                <a:solidFill>
                  <a:srgbClr val="ffffff"/>
                </a:solidFill>
                <a:latin typeface="Microsoft YaHei"/>
              </a:rPr>
              <a:t>其他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Rounded Rectangle 49"/>
          <p:cNvSpPr/>
          <p:nvPr/>
        </p:nvSpPr>
        <p:spPr>
          <a:xfrm>
            <a:off x="4709160" y="4443840"/>
            <a:ext cx="1462680" cy="9108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Rounded Rectangle 50"/>
          <p:cNvSpPr/>
          <p:nvPr/>
        </p:nvSpPr>
        <p:spPr>
          <a:xfrm>
            <a:off x="4709160" y="4443840"/>
            <a:ext cx="459360" cy="9108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9" name="Rounded Rectangle 51"/>
          <p:cNvSpPr/>
          <p:nvPr/>
        </p:nvSpPr>
        <p:spPr>
          <a:xfrm>
            <a:off x="7571160" y="1417320"/>
            <a:ext cx="3794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Rectangle 52"/>
          <p:cNvSpPr/>
          <p:nvPr/>
        </p:nvSpPr>
        <p:spPr>
          <a:xfrm>
            <a:off x="7571160" y="1417320"/>
            <a:ext cx="379440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TextBox 53"/>
          <p:cNvSpPr/>
          <p:nvPr/>
        </p:nvSpPr>
        <p:spPr>
          <a:xfrm>
            <a:off x="7772400" y="1600200"/>
            <a:ext cx="3391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招生驾驶舱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Box 54"/>
          <p:cNvSpPr/>
          <p:nvPr/>
        </p:nvSpPr>
        <p:spPr>
          <a:xfrm>
            <a:off x="7772400" y="2039040"/>
            <a:ext cx="33919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报名趋势、转化率、国家来源、审核效率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Rounded Rectangle 55"/>
          <p:cNvSpPr/>
          <p:nvPr/>
        </p:nvSpPr>
        <p:spPr>
          <a:xfrm>
            <a:off x="7571160" y="2441520"/>
            <a:ext cx="3794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Rectangle 56"/>
          <p:cNvSpPr/>
          <p:nvPr/>
        </p:nvSpPr>
        <p:spPr>
          <a:xfrm>
            <a:off x="7571160" y="2441520"/>
            <a:ext cx="3794400" cy="543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57"/>
          <p:cNvSpPr/>
          <p:nvPr/>
        </p:nvSpPr>
        <p:spPr>
          <a:xfrm>
            <a:off x="7772400" y="2624400"/>
            <a:ext cx="3391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学生画像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58"/>
          <p:cNvSpPr/>
          <p:nvPr/>
        </p:nvSpPr>
        <p:spPr>
          <a:xfrm>
            <a:off x="7772400" y="3063240"/>
            <a:ext cx="33919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年级、专业、国籍、签证、学籍状态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Rounded Rectangle 59"/>
          <p:cNvSpPr/>
          <p:nvPr/>
        </p:nvSpPr>
        <p:spPr>
          <a:xfrm>
            <a:off x="7571160" y="3465720"/>
            <a:ext cx="3794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Rectangle 60"/>
          <p:cNvSpPr/>
          <p:nvPr/>
        </p:nvSpPr>
        <p:spPr>
          <a:xfrm>
            <a:off x="7571160" y="3465720"/>
            <a:ext cx="379440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9" name="TextBox 61"/>
          <p:cNvSpPr/>
          <p:nvPr/>
        </p:nvSpPr>
        <p:spPr>
          <a:xfrm>
            <a:off x="7772400" y="3648600"/>
            <a:ext cx="3391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费用分析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62"/>
          <p:cNvSpPr/>
          <p:nvPr/>
        </p:nvSpPr>
        <p:spPr>
          <a:xfrm>
            <a:off x="7772400" y="4087440"/>
            <a:ext cx="33919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应缴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已缴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欠费、缴费率、欠费排行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Rounded Rectangle 63"/>
          <p:cNvSpPr/>
          <p:nvPr/>
        </p:nvSpPr>
        <p:spPr>
          <a:xfrm>
            <a:off x="7571160" y="4489560"/>
            <a:ext cx="3794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Rectangle 64"/>
          <p:cNvSpPr/>
          <p:nvPr/>
        </p:nvSpPr>
        <p:spPr>
          <a:xfrm>
            <a:off x="7571160" y="4489560"/>
            <a:ext cx="3794400" cy="54360"/>
          </a:xfrm>
          <a:prstGeom prst="rect">
            <a:avLst/>
          </a:prstGeom>
          <a:solidFill>
            <a:srgbClr val="dc26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TextBox 65"/>
          <p:cNvSpPr/>
          <p:nvPr/>
        </p:nvSpPr>
        <p:spPr>
          <a:xfrm>
            <a:off x="7772400" y="4672440"/>
            <a:ext cx="3391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风险监控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66"/>
          <p:cNvSpPr/>
          <p:nvPr/>
        </p:nvSpPr>
        <p:spPr>
          <a:xfrm>
            <a:off x="7772400" y="5111640"/>
            <a:ext cx="33919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签证、学业、住宿、保险、费用预警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统计指标体系设计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建议先统一“指标口径”，再建设驾驶舱和 </a:t>
            </a:r>
            <a:r>
              <a:rPr b="0" lang="en-US" sz="120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问数能力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09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Rounded Rectangle 9"/>
          <p:cNvSpPr/>
          <p:nvPr/>
        </p:nvSpPr>
        <p:spPr>
          <a:xfrm>
            <a:off x="502920" y="1417320"/>
            <a:ext cx="20113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Rectangle 10"/>
          <p:cNvSpPr/>
          <p:nvPr/>
        </p:nvSpPr>
        <p:spPr>
          <a:xfrm>
            <a:off x="502920" y="1417320"/>
            <a:ext cx="201132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TextBox 11"/>
          <p:cNvSpPr/>
          <p:nvPr/>
        </p:nvSpPr>
        <p:spPr>
          <a:xfrm>
            <a:off x="704160" y="1600200"/>
            <a:ext cx="1608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招生统计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12"/>
          <p:cNvSpPr/>
          <p:nvPr/>
        </p:nvSpPr>
        <p:spPr>
          <a:xfrm>
            <a:off x="704160" y="2020680"/>
            <a:ext cx="16088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报名人数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审核通过率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录取转化率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国家来源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TOPN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Rounded Rectangle 13"/>
          <p:cNvSpPr/>
          <p:nvPr/>
        </p:nvSpPr>
        <p:spPr>
          <a:xfrm>
            <a:off x="2807280" y="1417320"/>
            <a:ext cx="20113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Rectangle 14"/>
          <p:cNvSpPr/>
          <p:nvPr/>
        </p:nvSpPr>
        <p:spPr>
          <a:xfrm>
            <a:off x="2807280" y="1417320"/>
            <a:ext cx="201132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TextBox 15"/>
          <p:cNvSpPr/>
          <p:nvPr/>
        </p:nvSpPr>
        <p:spPr>
          <a:xfrm>
            <a:off x="3008520" y="1600200"/>
            <a:ext cx="1608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学生统计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16"/>
          <p:cNvSpPr/>
          <p:nvPr/>
        </p:nvSpPr>
        <p:spPr>
          <a:xfrm>
            <a:off x="3008520" y="2020680"/>
            <a:ext cx="16088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在校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离校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休学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专业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年级分布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签证有效期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学生画像标签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ounded Rectangle 17"/>
          <p:cNvSpPr/>
          <p:nvPr/>
        </p:nvSpPr>
        <p:spPr>
          <a:xfrm>
            <a:off x="5111640" y="1417320"/>
            <a:ext cx="20113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Rectangle 18"/>
          <p:cNvSpPr/>
          <p:nvPr/>
        </p:nvSpPr>
        <p:spPr>
          <a:xfrm>
            <a:off x="5111640" y="1417320"/>
            <a:ext cx="201132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TextBox 19"/>
          <p:cNvSpPr/>
          <p:nvPr/>
        </p:nvSpPr>
        <p:spPr>
          <a:xfrm>
            <a:off x="5312520" y="1600200"/>
            <a:ext cx="1608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费用统计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20"/>
          <p:cNvSpPr/>
          <p:nvPr/>
        </p:nvSpPr>
        <p:spPr>
          <a:xfrm>
            <a:off x="5312520" y="2020680"/>
            <a:ext cx="16088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应收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实收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欠费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缴费率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奖学金统计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欠费风险等级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ounded Rectangle 21"/>
          <p:cNvSpPr/>
          <p:nvPr/>
        </p:nvSpPr>
        <p:spPr>
          <a:xfrm>
            <a:off x="7415640" y="1417320"/>
            <a:ext cx="20113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Rectangle 22"/>
          <p:cNvSpPr/>
          <p:nvPr/>
        </p:nvSpPr>
        <p:spPr>
          <a:xfrm>
            <a:off x="7415640" y="1417320"/>
            <a:ext cx="201132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TextBox 23"/>
          <p:cNvSpPr/>
          <p:nvPr/>
        </p:nvSpPr>
        <p:spPr>
          <a:xfrm>
            <a:off x="7616880" y="1600200"/>
            <a:ext cx="1608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教务统计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24"/>
          <p:cNvSpPr/>
          <p:nvPr/>
        </p:nvSpPr>
        <p:spPr>
          <a:xfrm>
            <a:off x="7616880" y="2020680"/>
            <a:ext cx="16088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课程成绩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考勤异常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学业预警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毕业进度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Rounded Rectangle 25"/>
          <p:cNvSpPr/>
          <p:nvPr/>
        </p:nvSpPr>
        <p:spPr>
          <a:xfrm>
            <a:off x="9720000" y="1417320"/>
            <a:ext cx="20113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Rectangle 26"/>
          <p:cNvSpPr/>
          <p:nvPr/>
        </p:nvSpPr>
        <p:spPr>
          <a:xfrm>
            <a:off x="9720000" y="1417320"/>
            <a:ext cx="2011320" cy="543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TextBox 27"/>
          <p:cNvSpPr/>
          <p:nvPr/>
        </p:nvSpPr>
        <p:spPr>
          <a:xfrm>
            <a:off x="9921240" y="1600200"/>
            <a:ext cx="1608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住宿</a:t>
            </a: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/</a:t>
            </a: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保险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28"/>
          <p:cNvSpPr/>
          <p:nvPr/>
        </p:nvSpPr>
        <p:spPr>
          <a:xfrm>
            <a:off x="9921240" y="2020680"/>
            <a:ext cx="16088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床位入住率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住宿异常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保险有效期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理赔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缺失统计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Rounded Rectangle 29"/>
          <p:cNvSpPr/>
          <p:nvPr/>
        </p:nvSpPr>
        <p:spPr>
          <a:xfrm>
            <a:off x="749880" y="5870520"/>
            <a:ext cx="10698120" cy="4201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1000" spc="-1" strike="noStrike">
                <a:solidFill>
                  <a:srgbClr val="ffffff"/>
                </a:solidFill>
                <a:latin typeface="Microsoft YaHei"/>
              </a:rPr>
              <a:t>关键原则：同一指标只有一个口径，同一角色只看授权范围，同一预警必须有责任人与处置状态。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7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招生数据中心：从报名到录取的转化分析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支持招生团队快速识别重点国家、渠道效果与审核瓶颈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10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9"/>
          <p:cNvSpPr/>
          <p:nvPr/>
        </p:nvSpPr>
        <p:spPr>
          <a:xfrm>
            <a:off x="822960" y="144468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00" spc="-1" strike="noStrike">
                <a:solidFill>
                  <a:srgbClr val="0f172a"/>
                </a:solidFill>
                <a:latin typeface="Microsoft YaHei"/>
              </a:rPr>
              <a:t>报名人数趋势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Rectangle 10"/>
          <p:cNvSpPr/>
          <p:nvPr/>
        </p:nvSpPr>
        <p:spPr>
          <a:xfrm>
            <a:off x="822960" y="1965960"/>
            <a:ext cx="586440" cy="1810080"/>
          </a:xfrm>
          <a:prstGeom prst="rect">
            <a:avLst/>
          </a:prstGeom>
          <a:solidFill>
            <a:srgbClr val="f1f5f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Rounded Rectangle 11"/>
          <p:cNvSpPr/>
          <p:nvPr/>
        </p:nvSpPr>
        <p:spPr>
          <a:xfrm>
            <a:off x="822960" y="3518280"/>
            <a:ext cx="586440" cy="440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5" name="TextBox 12"/>
          <p:cNvSpPr/>
          <p:nvPr/>
        </p:nvSpPr>
        <p:spPr>
          <a:xfrm>
            <a:off x="822960" y="3289680"/>
            <a:ext cx="5864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1e293b"/>
                </a:solidFill>
                <a:latin typeface="Microsoft YaHei"/>
              </a:rPr>
              <a:t>120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13"/>
          <p:cNvSpPr/>
          <p:nvPr/>
        </p:nvSpPr>
        <p:spPr>
          <a:xfrm>
            <a:off x="777240" y="3996000"/>
            <a:ext cx="6778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00" spc="-1" strike="noStrike">
                <a:solidFill>
                  <a:srgbClr val="64748b"/>
                </a:solidFill>
                <a:latin typeface="Microsoft YaHei"/>
              </a:rPr>
              <a:t>1</a:t>
            </a:r>
            <a:r>
              <a:rPr b="0" lang="zh-CN" sz="700" spc="-1" strike="noStrike">
                <a:solidFill>
                  <a:srgbClr val="64748b"/>
                </a:solidFill>
                <a:latin typeface="Microsoft YaHei"/>
              </a:rPr>
              <a:t>月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ectangle 14"/>
          <p:cNvSpPr/>
          <p:nvPr/>
        </p:nvSpPr>
        <p:spPr>
          <a:xfrm>
            <a:off x="1537560" y="1965960"/>
            <a:ext cx="586440" cy="1810080"/>
          </a:xfrm>
          <a:prstGeom prst="rect">
            <a:avLst/>
          </a:prstGeom>
          <a:solidFill>
            <a:srgbClr val="f1f5f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Rounded Rectangle 15"/>
          <p:cNvSpPr/>
          <p:nvPr/>
        </p:nvSpPr>
        <p:spPr>
          <a:xfrm>
            <a:off x="1537560" y="3297600"/>
            <a:ext cx="586440" cy="661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TextBox 16"/>
          <p:cNvSpPr/>
          <p:nvPr/>
        </p:nvSpPr>
        <p:spPr>
          <a:xfrm>
            <a:off x="1537560" y="3069000"/>
            <a:ext cx="5864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1e293b"/>
                </a:solidFill>
                <a:latin typeface="Microsoft YaHei"/>
              </a:rPr>
              <a:t>180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17"/>
          <p:cNvSpPr/>
          <p:nvPr/>
        </p:nvSpPr>
        <p:spPr>
          <a:xfrm>
            <a:off x="1491840" y="3996000"/>
            <a:ext cx="6778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00" spc="-1" strike="noStrike">
                <a:solidFill>
                  <a:srgbClr val="64748b"/>
                </a:solidFill>
                <a:latin typeface="Microsoft YaHei"/>
              </a:rPr>
              <a:t>2</a:t>
            </a:r>
            <a:r>
              <a:rPr b="0" lang="zh-CN" sz="700" spc="-1" strike="noStrike">
                <a:solidFill>
                  <a:srgbClr val="64748b"/>
                </a:solidFill>
                <a:latin typeface="Microsoft YaHei"/>
              </a:rPr>
              <a:t>月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Rectangle 18"/>
          <p:cNvSpPr/>
          <p:nvPr/>
        </p:nvSpPr>
        <p:spPr>
          <a:xfrm>
            <a:off x="2252520" y="1965960"/>
            <a:ext cx="586440" cy="1810080"/>
          </a:xfrm>
          <a:prstGeom prst="rect">
            <a:avLst/>
          </a:prstGeom>
          <a:solidFill>
            <a:srgbClr val="f1f5f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Rounded Rectangle 19"/>
          <p:cNvSpPr/>
          <p:nvPr/>
        </p:nvSpPr>
        <p:spPr>
          <a:xfrm>
            <a:off x="2252520" y="3003840"/>
            <a:ext cx="586440" cy="9554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TextBox 20"/>
          <p:cNvSpPr/>
          <p:nvPr/>
        </p:nvSpPr>
        <p:spPr>
          <a:xfrm>
            <a:off x="2252520" y="2775240"/>
            <a:ext cx="5864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1e293b"/>
                </a:solidFill>
                <a:latin typeface="Microsoft YaHei"/>
              </a:rPr>
              <a:t>260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21"/>
          <p:cNvSpPr/>
          <p:nvPr/>
        </p:nvSpPr>
        <p:spPr>
          <a:xfrm>
            <a:off x="2206800" y="3996000"/>
            <a:ext cx="6778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00" spc="-1" strike="noStrike">
                <a:solidFill>
                  <a:srgbClr val="64748b"/>
                </a:solidFill>
                <a:latin typeface="Microsoft YaHei"/>
              </a:rPr>
              <a:t>3</a:t>
            </a:r>
            <a:r>
              <a:rPr b="0" lang="zh-CN" sz="700" spc="-1" strike="noStrike">
                <a:solidFill>
                  <a:srgbClr val="64748b"/>
                </a:solidFill>
                <a:latin typeface="Microsoft YaHei"/>
              </a:rPr>
              <a:t>月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Rectangle 22"/>
          <p:cNvSpPr/>
          <p:nvPr/>
        </p:nvSpPr>
        <p:spPr>
          <a:xfrm>
            <a:off x="2967120" y="1965960"/>
            <a:ext cx="586440" cy="1810080"/>
          </a:xfrm>
          <a:prstGeom prst="rect">
            <a:avLst/>
          </a:prstGeom>
          <a:solidFill>
            <a:srgbClr val="f1f5f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Rounded Rectangle 23"/>
          <p:cNvSpPr/>
          <p:nvPr/>
        </p:nvSpPr>
        <p:spPr>
          <a:xfrm>
            <a:off x="2967120" y="2636280"/>
            <a:ext cx="586440" cy="13230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TextBox 24"/>
          <p:cNvSpPr/>
          <p:nvPr/>
        </p:nvSpPr>
        <p:spPr>
          <a:xfrm>
            <a:off x="2967120" y="2407680"/>
            <a:ext cx="5864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1e293b"/>
                </a:solidFill>
                <a:latin typeface="Microsoft YaHei"/>
              </a:rPr>
              <a:t>360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25"/>
          <p:cNvSpPr/>
          <p:nvPr/>
        </p:nvSpPr>
        <p:spPr>
          <a:xfrm>
            <a:off x="2921400" y="3996000"/>
            <a:ext cx="6778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00" spc="-1" strike="noStrike">
                <a:solidFill>
                  <a:srgbClr val="64748b"/>
                </a:solidFill>
                <a:latin typeface="Microsoft YaHei"/>
              </a:rPr>
              <a:t>4</a:t>
            </a:r>
            <a:r>
              <a:rPr b="0" lang="zh-CN" sz="700" spc="-1" strike="noStrike">
                <a:solidFill>
                  <a:srgbClr val="64748b"/>
                </a:solidFill>
                <a:latin typeface="Microsoft YaHei"/>
              </a:rPr>
              <a:t>月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Rectangle 26"/>
          <p:cNvSpPr/>
          <p:nvPr/>
        </p:nvSpPr>
        <p:spPr>
          <a:xfrm>
            <a:off x="3682080" y="1965960"/>
            <a:ext cx="586440" cy="1810080"/>
          </a:xfrm>
          <a:prstGeom prst="rect">
            <a:avLst/>
          </a:prstGeom>
          <a:solidFill>
            <a:srgbClr val="f1f5f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Rounded Rectangle 27"/>
          <p:cNvSpPr/>
          <p:nvPr/>
        </p:nvSpPr>
        <p:spPr>
          <a:xfrm>
            <a:off x="3682080" y="2378880"/>
            <a:ext cx="586440" cy="15800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TextBox 28"/>
          <p:cNvSpPr/>
          <p:nvPr/>
        </p:nvSpPr>
        <p:spPr>
          <a:xfrm>
            <a:off x="3682080" y="2150280"/>
            <a:ext cx="5864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1e293b"/>
                </a:solidFill>
                <a:latin typeface="Microsoft YaHei"/>
              </a:rPr>
              <a:t>430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Box 29"/>
          <p:cNvSpPr/>
          <p:nvPr/>
        </p:nvSpPr>
        <p:spPr>
          <a:xfrm>
            <a:off x="3636360" y="3996000"/>
            <a:ext cx="6778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00" spc="-1" strike="noStrike">
                <a:solidFill>
                  <a:srgbClr val="64748b"/>
                </a:solidFill>
                <a:latin typeface="Microsoft YaHei"/>
              </a:rPr>
              <a:t>5</a:t>
            </a:r>
            <a:r>
              <a:rPr b="0" lang="zh-CN" sz="700" spc="-1" strike="noStrike">
                <a:solidFill>
                  <a:srgbClr val="64748b"/>
                </a:solidFill>
                <a:latin typeface="Microsoft YaHei"/>
              </a:rPr>
              <a:t>月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Rectangle 30"/>
          <p:cNvSpPr/>
          <p:nvPr/>
        </p:nvSpPr>
        <p:spPr>
          <a:xfrm>
            <a:off x="4396680" y="1965960"/>
            <a:ext cx="586440" cy="1810080"/>
          </a:xfrm>
          <a:prstGeom prst="rect">
            <a:avLst/>
          </a:prstGeom>
          <a:solidFill>
            <a:srgbClr val="f1f5f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Rounded Rectangle 31"/>
          <p:cNvSpPr/>
          <p:nvPr/>
        </p:nvSpPr>
        <p:spPr>
          <a:xfrm>
            <a:off x="4396680" y="2084760"/>
            <a:ext cx="586440" cy="187416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TextBox 32"/>
          <p:cNvSpPr/>
          <p:nvPr/>
        </p:nvSpPr>
        <p:spPr>
          <a:xfrm>
            <a:off x="4396680" y="1856160"/>
            <a:ext cx="5864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1e293b"/>
                </a:solidFill>
                <a:latin typeface="Microsoft YaHei"/>
              </a:rPr>
              <a:t>510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Box 33"/>
          <p:cNvSpPr/>
          <p:nvPr/>
        </p:nvSpPr>
        <p:spPr>
          <a:xfrm>
            <a:off x="4350960" y="3996000"/>
            <a:ext cx="6778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700" spc="-1" strike="noStrike">
                <a:solidFill>
                  <a:srgbClr val="64748b"/>
                </a:solidFill>
                <a:latin typeface="Microsoft YaHei"/>
              </a:rPr>
              <a:t>6</a:t>
            </a:r>
            <a:r>
              <a:rPr b="0" lang="zh-CN" sz="700" spc="-1" strike="noStrike">
                <a:solidFill>
                  <a:srgbClr val="64748b"/>
                </a:solidFill>
                <a:latin typeface="Microsoft YaHei"/>
              </a:rPr>
              <a:t>月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Rounded Rectangle 34"/>
          <p:cNvSpPr/>
          <p:nvPr/>
        </p:nvSpPr>
        <p:spPr>
          <a:xfrm>
            <a:off x="5532120" y="1417320"/>
            <a:ext cx="233136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8" name="Rectangle 35"/>
          <p:cNvSpPr/>
          <p:nvPr/>
        </p:nvSpPr>
        <p:spPr>
          <a:xfrm>
            <a:off x="5532120" y="1417320"/>
            <a:ext cx="233136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TextBox 36"/>
          <p:cNvSpPr/>
          <p:nvPr/>
        </p:nvSpPr>
        <p:spPr>
          <a:xfrm>
            <a:off x="5733360" y="1600200"/>
            <a:ext cx="19288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转化漏斗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Box 37"/>
          <p:cNvSpPr/>
          <p:nvPr/>
        </p:nvSpPr>
        <p:spPr>
          <a:xfrm>
            <a:off x="5733360" y="2020680"/>
            <a:ext cx="192888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报名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100%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初审通过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76%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录取确认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52%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Rounded Rectangle 38"/>
          <p:cNvSpPr/>
          <p:nvPr/>
        </p:nvSpPr>
        <p:spPr>
          <a:xfrm>
            <a:off x="5532120" y="2697480"/>
            <a:ext cx="2559960" cy="32868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报名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Rounded Rectangle 39"/>
          <p:cNvSpPr/>
          <p:nvPr/>
        </p:nvSpPr>
        <p:spPr>
          <a:xfrm>
            <a:off x="5783760" y="3209400"/>
            <a:ext cx="2057040" cy="32868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审核通过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Rounded Rectangle 40"/>
          <p:cNvSpPr/>
          <p:nvPr/>
        </p:nvSpPr>
        <p:spPr>
          <a:xfrm>
            <a:off x="6058080" y="3721680"/>
            <a:ext cx="1508400" cy="32868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录取确认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ounded Rectangle 41"/>
          <p:cNvSpPr/>
          <p:nvPr/>
        </p:nvSpPr>
        <p:spPr>
          <a:xfrm>
            <a:off x="6309360" y="4233600"/>
            <a:ext cx="1005480" cy="32868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报到入学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Box 42"/>
          <p:cNvSpPr/>
          <p:nvPr/>
        </p:nvSpPr>
        <p:spPr>
          <a:xfrm>
            <a:off x="8549640" y="1481400"/>
            <a:ext cx="731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00" spc="-1" strike="noStrike">
                <a:solidFill>
                  <a:srgbClr val="1e293b"/>
                </a:solidFill>
                <a:latin typeface="Microsoft YaHei"/>
              </a:rPr>
              <a:t>韩国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ounded Rectangle 43"/>
          <p:cNvSpPr/>
          <p:nvPr/>
        </p:nvSpPr>
        <p:spPr>
          <a:xfrm>
            <a:off x="9399960" y="1527120"/>
            <a:ext cx="1599840" cy="1278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Rounded Rectangle 44"/>
          <p:cNvSpPr/>
          <p:nvPr/>
        </p:nvSpPr>
        <p:spPr>
          <a:xfrm>
            <a:off x="9399960" y="1527120"/>
            <a:ext cx="1493280" cy="1278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TextBox 45"/>
          <p:cNvSpPr/>
          <p:nvPr/>
        </p:nvSpPr>
        <p:spPr>
          <a:xfrm>
            <a:off x="11082600" y="1481400"/>
            <a:ext cx="3654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64748b"/>
                </a:solidFill>
                <a:latin typeface="Microsoft YaHei"/>
              </a:rPr>
              <a:t>28%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46"/>
          <p:cNvSpPr/>
          <p:nvPr/>
        </p:nvSpPr>
        <p:spPr>
          <a:xfrm>
            <a:off x="8549640" y="2048400"/>
            <a:ext cx="731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00" spc="-1" strike="noStrike">
                <a:solidFill>
                  <a:srgbClr val="1e293b"/>
                </a:solidFill>
                <a:latin typeface="Microsoft YaHei"/>
              </a:rPr>
              <a:t>日本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Rounded Rectangle 47"/>
          <p:cNvSpPr/>
          <p:nvPr/>
        </p:nvSpPr>
        <p:spPr>
          <a:xfrm>
            <a:off x="9399960" y="2094120"/>
            <a:ext cx="1599840" cy="1278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1" name="Rounded Rectangle 48"/>
          <p:cNvSpPr/>
          <p:nvPr/>
        </p:nvSpPr>
        <p:spPr>
          <a:xfrm>
            <a:off x="9399960" y="2094120"/>
            <a:ext cx="1119960" cy="1278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TextBox 49"/>
          <p:cNvSpPr/>
          <p:nvPr/>
        </p:nvSpPr>
        <p:spPr>
          <a:xfrm>
            <a:off x="11082600" y="2048400"/>
            <a:ext cx="3654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64748b"/>
                </a:solidFill>
                <a:latin typeface="Microsoft YaHei"/>
              </a:rPr>
              <a:t>21%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Box 50"/>
          <p:cNvSpPr/>
          <p:nvPr/>
        </p:nvSpPr>
        <p:spPr>
          <a:xfrm>
            <a:off x="8549640" y="2615040"/>
            <a:ext cx="731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00" spc="-1" strike="noStrike">
                <a:solidFill>
                  <a:srgbClr val="1e293b"/>
                </a:solidFill>
                <a:latin typeface="Microsoft YaHei"/>
              </a:rPr>
              <a:t>泰国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Rounded Rectangle 51"/>
          <p:cNvSpPr/>
          <p:nvPr/>
        </p:nvSpPr>
        <p:spPr>
          <a:xfrm>
            <a:off x="9399960" y="2660760"/>
            <a:ext cx="1599840" cy="1278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5" name="Rounded Rectangle 52"/>
          <p:cNvSpPr/>
          <p:nvPr/>
        </p:nvSpPr>
        <p:spPr>
          <a:xfrm>
            <a:off x="9399960" y="2660760"/>
            <a:ext cx="906480" cy="1278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TextBox 53"/>
          <p:cNvSpPr/>
          <p:nvPr/>
        </p:nvSpPr>
        <p:spPr>
          <a:xfrm>
            <a:off x="11082600" y="2615040"/>
            <a:ext cx="3654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64748b"/>
                </a:solidFill>
                <a:latin typeface="Microsoft YaHei"/>
              </a:rPr>
              <a:t>17%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54"/>
          <p:cNvSpPr/>
          <p:nvPr/>
        </p:nvSpPr>
        <p:spPr>
          <a:xfrm>
            <a:off x="8549640" y="3182040"/>
            <a:ext cx="731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00" spc="-1" strike="noStrike">
                <a:solidFill>
                  <a:srgbClr val="1e293b"/>
                </a:solidFill>
                <a:latin typeface="Microsoft YaHei"/>
              </a:rPr>
              <a:t>俄罗斯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Rounded Rectangle 55"/>
          <p:cNvSpPr/>
          <p:nvPr/>
        </p:nvSpPr>
        <p:spPr>
          <a:xfrm>
            <a:off x="9399960" y="3227760"/>
            <a:ext cx="1599840" cy="1278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9" name="Rounded Rectangle 56"/>
          <p:cNvSpPr/>
          <p:nvPr/>
        </p:nvSpPr>
        <p:spPr>
          <a:xfrm>
            <a:off x="9399960" y="3227760"/>
            <a:ext cx="639720" cy="1278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TextBox 57"/>
          <p:cNvSpPr/>
          <p:nvPr/>
        </p:nvSpPr>
        <p:spPr>
          <a:xfrm>
            <a:off x="11082600" y="3182040"/>
            <a:ext cx="3654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64748b"/>
                </a:solidFill>
                <a:latin typeface="Microsoft YaHei"/>
              </a:rPr>
              <a:t>12%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58"/>
          <p:cNvSpPr/>
          <p:nvPr/>
        </p:nvSpPr>
        <p:spPr>
          <a:xfrm>
            <a:off x="8549640" y="3749040"/>
            <a:ext cx="731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00" spc="-1" strike="noStrike">
                <a:solidFill>
                  <a:srgbClr val="1e293b"/>
                </a:solidFill>
                <a:latin typeface="Microsoft YaHei"/>
              </a:rPr>
              <a:t>其他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Rounded Rectangle 59"/>
          <p:cNvSpPr/>
          <p:nvPr/>
        </p:nvSpPr>
        <p:spPr>
          <a:xfrm>
            <a:off x="9399960" y="3794760"/>
            <a:ext cx="1599840" cy="1278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Rounded Rectangle 60"/>
          <p:cNvSpPr/>
          <p:nvPr/>
        </p:nvSpPr>
        <p:spPr>
          <a:xfrm>
            <a:off x="9399960" y="3794760"/>
            <a:ext cx="1173240" cy="1278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4" name="TextBox 61"/>
          <p:cNvSpPr/>
          <p:nvPr/>
        </p:nvSpPr>
        <p:spPr>
          <a:xfrm>
            <a:off x="11082600" y="3749040"/>
            <a:ext cx="3654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64748b"/>
                </a:solidFill>
                <a:latin typeface="Microsoft YaHei"/>
              </a:rPr>
              <a:t>22%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62"/>
          <p:cNvSpPr/>
          <p:nvPr/>
        </p:nvSpPr>
        <p:spPr>
          <a:xfrm>
            <a:off x="8183880" y="4526280"/>
            <a:ext cx="310860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Rectangle 63"/>
          <p:cNvSpPr/>
          <p:nvPr/>
        </p:nvSpPr>
        <p:spPr>
          <a:xfrm>
            <a:off x="8183880" y="4526280"/>
            <a:ext cx="310860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TextBox 64"/>
          <p:cNvSpPr/>
          <p:nvPr/>
        </p:nvSpPr>
        <p:spPr>
          <a:xfrm>
            <a:off x="8385120" y="4709160"/>
            <a:ext cx="27061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建议新增功能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65"/>
          <p:cNvSpPr/>
          <p:nvPr/>
        </p:nvSpPr>
        <p:spPr>
          <a:xfrm>
            <a:off x="8385120" y="5129640"/>
            <a:ext cx="270612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世界地图热力图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渠道投入产出分析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审核时效与退回原因统计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1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2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学生、费用、教务联动分析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把学生状态、缴费行为和学业表现关联起来，形成风险识别基础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5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11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Rounded Rectangle 9"/>
          <p:cNvSpPr/>
          <p:nvPr/>
        </p:nvSpPr>
        <p:spPr>
          <a:xfrm>
            <a:off x="713160" y="1417320"/>
            <a:ext cx="324576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8" name="Rectangle 10"/>
          <p:cNvSpPr/>
          <p:nvPr/>
        </p:nvSpPr>
        <p:spPr>
          <a:xfrm>
            <a:off x="713160" y="1417320"/>
            <a:ext cx="324576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9" name="TextBox 11"/>
          <p:cNvSpPr/>
          <p:nvPr/>
        </p:nvSpPr>
        <p:spPr>
          <a:xfrm>
            <a:off x="914400" y="160020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学生画像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Rounded Rectangle 12"/>
          <p:cNvSpPr/>
          <p:nvPr/>
        </p:nvSpPr>
        <p:spPr>
          <a:xfrm>
            <a:off x="969120" y="199332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TextBox 13"/>
          <p:cNvSpPr/>
          <p:nvPr/>
        </p:nvSpPr>
        <p:spPr>
          <a:xfrm>
            <a:off x="1088280" y="207576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563eb"/>
                </a:solidFill>
                <a:latin typeface="Microsoft YaHei"/>
              </a:rPr>
              <a:t>2,486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Box 14"/>
          <p:cNvSpPr/>
          <p:nvPr/>
        </p:nvSpPr>
        <p:spPr>
          <a:xfrm>
            <a:off x="1088280" y="241416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在校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Rounded Rectangle 15"/>
          <p:cNvSpPr/>
          <p:nvPr/>
        </p:nvSpPr>
        <p:spPr>
          <a:xfrm>
            <a:off x="969120" y="295344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4" name="TextBox 16"/>
          <p:cNvSpPr/>
          <p:nvPr/>
        </p:nvSpPr>
        <p:spPr>
          <a:xfrm>
            <a:off x="1088280" y="303588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563eb"/>
                </a:solidFill>
                <a:latin typeface="Microsoft YaHei"/>
              </a:rPr>
              <a:t>126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Box 17"/>
          <p:cNvSpPr/>
          <p:nvPr/>
        </p:nvSpPr>
        <p:spPr>
          <a:xfrm>
            <a:off x="1088280" y="337428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签证临期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Rounded Rectangle 18"/>
          <p:cNvSpPr/>
          <p:nvPr/>
        </p:nvSpPr>
        <p:spPr>
          <a:xfrm>
            <a:off x="969120" y="391356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7" name="TextBox 19"/>
          <p:cNvSpPr/>
          <p:nvPr/>
        </p:nvSpPr>
        <p:spPr>
          <a:xfrm>
            <a:off x="1088280" y="399600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563eb"/>
                </a:solidFill>
                <a:latin typeface="Microsoft YaHei"/>
              </a:rPr>
              <a:t>58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Box 20"/>
          <p:cNvSpPr/>
          <p:nvPr/>
        </p:nvSpPr>
        <p:spPr>
          <a:xfrm>
            <a:off x="1088280" y="433440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重点关注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Rounded Rectangle 21"/>
          <p:cNvSpPr/>
          <p:nvPr/>
        </p:nvSpPr>
        <p:spPr>
          <a:xfrm>
            <a:off x="969120" y="4983480"/>
            <a:ext cx="2697120" cy="3837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按国籍</a:t>
            </a:r>
            <a:r>
              <a:rPr b="1" lang="en-US" sz="800" spc="-1" strike="noStrike">
                <a:solidFill>
                  <a:srgbClr val="0f172a"/>
                </a:solidFill>
                <a:latin typeface="Microsoft YaHei"/>
              </a:rPr>
              <a:t>/</a:t>
            </a: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专业</a:t>
            </a:r>
            <a:r>
              <a:rPr b="1" lang="en-US" sz="800" spc="-1" strike="noStrike">
                <a:solidFill>
                  <a:srgbClr val="0f172a"/>
                </a:solidFill>
                <a:latin typeface="Microsoft YaHei"/>
              </a:rPr>
              <a:t>/</a:t>
            </a: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年级钻取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Rounded Rectangle 22"/>
          <p:cNvSpPr/>
          <p:nvPr/>
        </p:nvSpPr>
        <p:spPr>
          <a:xfrm>
            <a:off x="4507920" y="1417320"/>
            <a:ext cx="324576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1" name="Rectangle 23"/>
          <p:cNvSpPr/>
          <p:nvPr/>
        </p:nvSpPr>
        <p:spPr>
          <a:xfrm>
            <a:off x="4507920" y="1417320"/>
            <a:ext cx="324576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2" name="TextBox 24"/>
          <p:cNvSpPr/>
          <p:nvPr/>
        </p:nvSpPr>
        <p:spPr>
          <a:xfrm>
            <a:off x="4709160" y="160020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费用管理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Rounded Rectangle 25"/>
          <p:cNvSpPr/>
          <p:nvPr/>
        </p:nvSpPr>
        <p:spPr>
          <a:xfrm>
            <a:off x="4763880" y="199332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4" name="TextBox 26"/>
          <p:cNvSpPr/>
          <p:nvPr/>
        </p:nvSpPr>
        <p:spPr>
          <a:xfrm>
            <a:off x="4883040" y="207576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Microsoft YaHei"/>
              </a:rPr>
              <a:t>91.6%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Box 27"/>
          <p:cNvSpPr/>
          <p:nvPr/>
        </p:nvSpPr>
        <p:spPr>
          <a:xfrm>
            <a:off x="4883040" y="241416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缴费率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Rounded Rectangle 28"/>
          <p:cNvSpPr/>
          <p:nvPr/>
        </p:nvSpPr>
        <p:spPr>
          <a:xfrm>
            <a:off x="4763880" y="295344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7" name="TextBox 29"/>
          <p:cNvSpPr/>
          <p:nvPr/>
        </p:nvSpPr>
        <p:spPr>
          <a:xfrm>
            <a:off x="4883040" y="303588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Microsoft YaHei"/>
              </a:rPr>
              <a:t>214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Box 30"/>
          <p:cNvSpPr/>
          <p:nvPr/>
        </p:nvSpPr>
        <p:spPr>
          <a:xfrm>
            <a:off x="4883040" y="337428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欠费人数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Rounded Rectangle 31"/>
          <p:cNvSpPr/>
          <p:nvPr/>
        </p:nvSpPr>
        <p:spPr>
          <a:xfrm>
            <a:off x="4763880" y="391356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0" name="TextBox 32"/>
          <p:cNvSpPr/>
          <p:nvPr/>
        </p:nvSpPr>
        <p:spPr>
          <a:xfrm>
            <a:off x="4883040" y="399600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Microsoft YaHei"/>
              </a:rPr>
              <a:t>37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Box 33"/>
          <p:cNvSpPr/>
          <p:nvPr/>
        </p:nvSpPr>
        <p:spPr>
          <a:xfrm>
            <a:off x="4883040" y="433440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高风险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Rounded Rectangle 34"/>
          <p:cNvSpPr/>
          <p:nvPr/>
        </p:nvSpPr>
        <p:spPr>
          <a:xfrm>
            <a:off x="4763880" y="4983480"/>
            <a:ext cx="2697120" cy="3837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自动生成欠费名单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Rounded Rectangle 35"/>
          <p:cNvSpPr/>
          <p:nvPr/>
        </p:nvSpPr>
        <p:spPr>
          <a:xfrm>
            <a:off x="8302680" y="1417320"/>
            <a:ext cx="324576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4" name="Rectangle 36"/>
          <p:cNvSpPr/>
          <p:nvPr/>
        </p:nvSpPr>
        <p:spPr>
          <a:xfrm>
            <a:off x="8302680" y="1417320"/>
            <a:ext cx="324576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5" name="TextBox 37"/>
          <p:cNvSpPr/>
          <p:nvPr/>
        </p:nvSpPr>
        <p:spPr>
          <a:xfrm>
            <a:off x="8503920" y="160020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教务分析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Rounded Rectangle 38"/>
          <p:cNvSpPr/>
          <p:nvPr/>
        </p:nvSpPr>
        <p:spPr>
          <a:xfrm>
            <a:off x="8558640" y="199332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7" name="TextBox 39"/>
          <p:cNvSpPr/>
          <p:nvPr/>
        </p:nvSpPr>
        <p:spPr>
          <a:xfrm>
            <a:off x="8677800" y="207576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d28d9"/>
                </a:solidFill>
                <a:latin typeface="Microsoft YaHei"/>
              </a:rPr>
              <a:t>49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Box 40"/>
          <p:cNvSpPr/>
          <p:nvPr/>
        </p:nvSpPr>
        <p:spPr>
          <a:xfrm>
            <a:off x="8677800" y="241416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低绩点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Rounded Rectangle 41"/>
          <p:cNvSpPr/>
          <p:nvPr/>
        </p:nvSpPr>
        <p:spPr>
          <a:xfrm>
            <a:off x="8558640" y="295344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0" name="TextBox 42"/>
          <p:cNvSpPr/>
          <p:nvPr/>
        </p:nvSpPr>
        <p:spPr>
          <a:xfrm>
            <a:off x="8677800" y="303588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d28d9"/>
                </a:solidFill>
                <a:latin typeface="Microsoft YaHei"/>
              </a:rPr>
              <a:t>83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Box 43"/>
          <p:cNvSpPr/>
          <p:nvPr/>
        </p:nvSpPr>
        <p:spPr>
          <a:xfrm>
            <a:off x="8677800" y="337428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缺勤异常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Rounded Rectangle 44"/>
          <p:cNvSpPr/>
          <p:nvPr/>
        </p:nvSpPr>
        <p:spPr>
          <a:xfrm>
            <a:off x="8558640" y="3913560"/>
            <a:ext cx="2697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3" name="TextBox 45"/>
          <p:cNvSpPr/>
          <p:nvPr/>
        </p:nvSpPr>
        <p:spPr>
          <a:xfrm>
            <a:off x="8677800" y="3996000"/>
            <a:ext cx="245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d28d9"/>
                </a:solidFill>
                <a:latin typeface="Microsoft YaHei"/>
              </a:rPr>
              <a:t>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Box 46"/>
          <p:cNvSpPr/>
          <p:nvPr/>
        </p:nvSpPr>
        <p:spPr>
          <a:xfrm>
            <a:off x="8677800" y="4334400"/>
            <a:ext cx="2459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64748b"/>
                </a:solidFill>
                <a:latin typeface="Microsoft YaHei"/>
              </a:rPr>
              <a:t>毕业预警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Rounded Rectangle 47"/>
          <p:cNvSpPr/>
          <p:nvPr/>
        </p:nvSpPr>
        <p:spPr>
          <a:xfrm>
            <a:off x="8558640" y="4983480"/>
            <a:ext cx="2697120" cy="38376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00" spc="-1" strike="noStrike">
                <a:solidFill>
                  <a:srgbClr val="0f172a"/>
                </a:solidFill>
                <a:latin typeface="Microsoft YaHei"/>
              </a:rPr>
              <a:t>学业风险分级预警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7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8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9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智能分析：把“查报表”升级为“对话问数”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管理者可用自然语言提出问题，系统自动完成取数、分析、图表和结论输出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2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12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ounded Rectangle 9"/>
          <p:cNvSpPr/>
          <p:nvPr/>
        </p:nvSpPr>
        <p:spPr>
          <a:xfrm>
            <a:off x="749880" y="1371600"/>
            <a:ext cx="502884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Rectangle 10"/>
          <p:cNvSpPr/>
          <p:nvPr/>
        </p:nvSpPr>
        <p:spPr>
          <a:xfrm>
            <a:off x="749880" y="1371600"/>
            <a:ext cx="502884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6" name="TextBox 11"/>
          <p:cNvSpPr/>
          <p:nvPr/>
        </p:nvSpPr>
        <p:spPr>
          <a:xfrm>
            <a:off x="951120" y="1554480"/>
            <a:ext cx="46263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问数示例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Rounded Rectangle 12"/>
          <p:cNvSpPr/>
          <p:nvPr/>
        </p:nvSpPr>
        <p:spPr>
          <a:xfrm>
            <a:off x="1508760" y="1920240"/>
            <a:ext cx="3977280" cy="4201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30" spc="-1" strike="noStrike">
                <a:solidFill>
                  <a:srgbClr val="1e293b"/>
                </a:solidFill>
                <a:latin typeface="Microsoft YaHei"/>
              </a:rPr>
              <a:t>今年招生人数同比增长多少？哪些国家贡献最大？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Rounded Rectangle 13"/>
          <p:cNvSpPr/>
          <p:nvPr/>
        </p:nvSpPr>
        <p:spPr>
          <a:xfrm>
            <a:off x="1005840" y="2633400"/>
            <a:ext cx="3977280" cy="42012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30" spc="-1" strike="noStrike">
                <a:solidFill>
                  <a:srgbClr val="1e293b"/>
                </a:solidFill>
                <a:latin typeface="Microsoft YaHei"/>
              </a:rPr>
              <a:t>同比增长 </a:t>
            </a:r>
            <a:r>
              <a:rPr b="1" lang="en-US" sz="830" spc="-1" strike="noStrike">
                <a:solidFill>
                  <a:srgbClr val="1e293b"/>
                </a:solidFill>
                <a:latin typeface="Microsoft YaHei"/>
              </a:rPr>
              <a:t>12.4%</a:t>
            </a:r>
            <a:r>
              <a:rPr b="1" lang="zh-CN" sz="830" spc="-1" strike="noStrike">
                <a:solidFill>
                  <a:srgbClr val="1e293b"/>
                </a:solidFill>
                <a:latin typeface="Microsoft YaHei"/>
              </a:rPr>
              <a:t>。韩国、日本、泰国贡献 </a:t>
            </a:r>
            <a:r>
              <a:rPr b="1" lang="en-US" sz="830" spc="-1" strike="noStrike">
                <a:solidFill>
                  <a:srgbClr val="1e293b"/>
                </a:solidFill>
                <a:latin typeface="Microsoft YaHei"/>
              </a:rPr>
              <a:t>66% </a:t>
            </a:r>
            <a:r>
              <a:rPr b="1" lang="zh-CN" sz="830" spc="-1" strike="noStrike">
                <a:solidFill>
                  <a:srgbClr val="1e293b"/>
                </a:solidFill>
                <a:latin typeface="Microsoft YaHei"/>
              </a:rPr>
              <a:t>的新增报名。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Rounded Rectangle 14"/>
          <p:cNvSpPr/>
          <p:nvPr/>
        </p:nvSpPr>
        <p:spPr>
          <a:xfrm>
            <a:off x="1508760" y="3346560"/>
            <a:ext cx="3977280" cy="4201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30" spc="-1" strike="noStrike">
                <a:solidFill>
                  <a:srgbClr val="1e293b"/>
                </a:solidFill>
                <a:latin typeface="Microsoft YaHei"/>
              </a:rPr>
              <a:t>请生成招生分析图，并列出需要重点跟进的渠道。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Rounded Rectangle 15"/>
          <p:cNvSpPr/>
          <p:nvPr/>
        </p:nvSpPr>
        <p:spPr>
          <a:xfrm>
            <a:off x="1005840" y="4060080"/>
            <a:ext cx="3977280" cy="42012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830" spc="-1" strike="noStrike">
                <a:solidFill>
                  <a:srgbClr val="1e293b"/>
                </a:solidFill>
                <a:latin typeface="Microsoft YaHei"/>
              </a:rPr>
              <a:t>已生成趋势图、国家分布图，并标记 </a:t>
            </a:r>
            <a:r>
              <a:rPr b="1" lang="en-US" sz="830" spc="-1" strike="noStrike">
                <a:solidFill>
                  <a:srgbClr val="1e293b"/>
                </a:solidFill>
                <a:latin typeface="Microsoft YaHei"/>
              </a:rPr>
              <a:t>3 </a:t>
            </a:r>
            <a:r>
              <a:rPr b="1" lang="zh-CN" sz="830" spc="-1" strike="noStrike">
                <a:solidFill>
                  <a:srgbClr val="1e293b"/>
                </a:solidFill>
                <a:latin typeface="Microsoft YaHei"/>
              </a:rPr>
              <a:t>个转化率偏低渠道。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Rounded Rectangle 16"/>
          <p:cNvSpPr/>
          <p:nvPr/>
        </p:nvSpPr>
        <p:spPr>
          <a:xfrm>
            <a:off x="6080760" y="1600200"/>
            <a:ext cx="91944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2" name="Rounded Rectangle 17"/>
          <p:cNvSpPr/>
          <p:nvPr/>
        </p:nvSpPr>
        <p:spPr>
          <a:xfrm>
            <a:off x="6190560" y="172836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Box 18"/>
          <p:cNvSpPr/>
          <p:nvPr/>
        </p:nvSpPr>
        <p:spPr>
          <a:xfrm>
            <a:off x="6574680" y="1728360"/>
            <a:ext cx="33444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语义理解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Box 19"/>
          <p:cNvSpPr/>
          <p:nvPr/>
        </p:nvSpPr>
        <p:spPr>
          <a:xfrm>
            <a:off x="6226920" y="2039040"/>
            <a:ext cx="6267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识别指标维度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Right Arrow 20"/>
          <p:cNvSpPr/>
          <p:nvPr/>
        </p:nvSpPr>
        <p:spPr>
          <a:xfrm>
            <a:off x="6973200" y="191124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6" name="Rounded Rectangle 21"/>
          <p:cNvSpPr/>
          <p:nvPr/>
        </p:nvSpPr>
        <p:spPr>
          <a:xfrm>
            <a:off x="7165080" y="1600200"/>
            <a:ext cx="91944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6d28d9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7" name="Rounded Rectangle 22"/>
          <p:cNvSpPr/>
          <p:nvPr/>
        </p:nvSpPr>
        <p:spPr>
          <a:xfrm>
            <a:off x="7274880" y="172836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23"/>
          <p:cNvSpPr/>
          <p:nvPr/>
        </p:nvSpPr>
        <p:spPr>
          <a:xfrm>
            <a:off x="7659000" y="1728360"/>
            <a:ext cx="33444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权限校验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Box 24"/>
          <p:cNvSpPr/>
          <p:nvPr/>
        </p:nvSpPr>
        <p:spPr>
          <a:xfrm>
            <a:off x="7311600" y="2039040"/>
            <a:ext cx="6267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判断数据范围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Right Arrow 25"/>
          <p:cNvSpPr/>
          <p:nvPr/>
        </p:nvSpPr>
        <p:spPr>
          <a:xfrm>
            <a:off x="8057520" y="191124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1" name="Rounded Rectangle 26"/>
          <p:cNvSpPr/>
          <p:nvPr/>
        </p:nvSpPr>
        <p:spPr>
          <a:xfrm>
            <a:off x="8249760" y="1600200"/>
            <a:ext cx="91944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891b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2" name="Rounded Rectangle 27"/>
          <p:cNvSpPr/>
          <p:nvPr/>
        </p:nvSpPr>
        <p:spPr>
          <a:xfrm>
            <a:off x="8359560" y="172836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Box 28"/>
          <p:cNvSpPr/>
          <p:nvPr/>
        </p:nvSpPr>
        <p:spPr>
          <a:xfrm>
            <a:off x="8743320" y="1728360"/>
            <a:ext cx="33444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安全查询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Box 29"/>
          <p:cNvSpPr/>
          <p:nvPr/>
        </p:nvSpPr>
        <p:spPr>
          <a:xfrm>
            <a:off x="8395920" y="2039040"/>
            <a:ext cx="6267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SQL/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接口取数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Right Arrow 30"/>
          <p:cNvSpPr/>
          <p:nvPr/>
        </p:nvSpPr>
        <p:spPr>
          <a:xfrm>
            <a:off x="9142200" y="191124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6" name="Rounded Rectangle 31"/>
          <p:cNvSpPr/>
          <p:nvPr/>
        </p:nvSpPr>
        <p:spPr>
          <a:xfrm>
            <a:off x="9334080" y="1600200"/>
            <a:ext cx="91944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ea580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7" name="Rounded Rectangle 32"/>
          <p:cNvSpPr/>
          <p:nvPr/>
        </p:nvSpPr>
        <p:spPr>
          <a:xfrm>
            <a:off x="9443880" y="172836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33"/>
          <p:cNvSpPr/>
          <p:nvPr/>
        </p:nvSpPr>
        <p:spPr>
          <a:xfrm>
            <a:off x="9828000" y="1728360"/>
            <a:ext cx="33444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图表生成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Box 34"/>
          <p:cNvSpPr/>
          <p:nvPr/>
        </p:nvSpPr>
        <p:spPr>
          <a:xfrm>
            <a:off x="9480600" y="2039040"/>
            <a:ext cx="6267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自动可视化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Right Arrow 35"/>
          <p:cNvSpPr/>
          <p:nvPr/>
        </p:nvSpPr>
        <p:spPr>
          <a:xfrm>
            <a:off x="10226520" y="191124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1" name="Rounded Rectangle 36"/>
          <p:cNvSpPr/>
          <p:nvPr/>
        </p:nvSpPr>
        <p:spPr>
          <a:xfrm>
            <a:off x="10418760" y="1600200"/>
            <a:ext cx="91944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d94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2" name="Rounded Rectangle 37"/>
          <p:cNvSpPr/>
          <p:nvPr/>
        </p:nvSpPr>
        <p:spPr>
          <a:xfrm>
            <a:off x="10528560" y="172836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5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TextBox 38"/>
          <p:cNvSpPr/>
          <p:nvPr/>
        </p:nvSpPr>
        <p:spPr>
          <a:xfrm>
            <a:off x="10912320" y="1728360"/>
            <a:ext cx="33444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结论解释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Box 39"/>
          <p:cNvSpPr/>
          <p:nvPr/>
        </p:nvSpPr>
        <p:spPr>
          <a:xfrm>
            <a:off x="10564920" y="2039040"/>
            <a:ext cx="6267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摘要与建议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Rounded Rectangle 40"/>
          <p:cNvSpPr/>
          <p:nvPr/>
        </p:nvSpPr>
        <p:spPr>
          <a:xfrm>
            <a:off x="6080760" y="3246120"/>
            <a:ext cx="525744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6" name="Rectangle 41"/>
          <p:cNvSpPr/>
          <p:nvPr/>
        </p:nvSpPr>
        <p:spPr>
          <a:xfrm>
            <a:off x="6080760" y="3246120"/>
            <a:ext cx="525744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7" name="TextBox 42"/>
          <p:cNvSpPr/>
          <p:nvPr/>
        </p:nvSpPr>
        <p:spPr>
          <a:xfrm>
            <a:off x="6282000" y="3429000"/>
            <a:ext cx="48549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典型问题库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Box 43"/>
          <p:cNvSpPr/>
          <p:nvPr/>
        </p:nvSpPr>
        <p:spPr>
          <a:xfrm>
            <a:off x="6282000" y="3849480"/>
            <a:ext cx="485496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哪些国家学生最多？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未缴费学生有哪些，按风险排序。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哪些学生存在学业和签证双重风险？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本月住宿异常是否上升？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Rounded Rectangle 44"/>
          <p:cNvSpPr/>
          <p:nvPr/>
        </p:nvSpPr>
        <p:spPr>
          <a:xfrm>
            <a:off x="6080760" y="4983480"/>
            <a:ext cx="525744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0" name="Rectangle 45"/>
          <p:cNvSpPr/>
          <p:nvPr/>
        </p:nvSpPr>
        <p:spPr>
          <a:xfrm>
            <a:off x="6080760" y="4983480"/>
            <a:ext cx="525744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1" name="TextBox 46"/>
          <p:cNvSpPr/>
          <p:nvPr/>
        </p:nvSpPr>
        <p:spPr>
          <a:xfrm>
            <a:off x="6282000" y="5166360"/>
            <a:ext cx="48549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输出形式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Box 47"/>
          <p:cNvSpPr/>
          <p:nvPr/>
        </p:nvSpPr>
        <p:spPr>
          <a:xfrm>
            <a:off x="6282000" y="5605200"/>
            <a:ext cx="48549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文字结论 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+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图表 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+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明细名单 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+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可导出报表 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+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后续处理建议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4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5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6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0f172a"/>
                </a:solidFill>
                <a:latin typeface="Microsoft YaHei"/>
              </a:rPr>
              <a:t>AI Agent </a:t>
            </a: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智能体：从发现问题到闭环处置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Microsoft YaHei"/>
              </a:rPr>
              <a:t>Agent </a:t>
            </a: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不只是回答问题，还能按授权触发通知、工单和跟进动作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9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13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Rounded Rectangle 9"/>
          <p:cNvSpPr/>
          <p:nvPr/>
        </p:nvSpPr>
        <p:spPr>
          <a:xfrm>
            <a:off x="685800" y="1554480"/>
            <a:ext cx="203508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2" name="Rounded Rectangle 10"/>
          <p:cNvSpPr/>
          <p:nvPr/>
        </p:nvSpPr>
        <p:spPr>
          <a:xfrm>
            <a:off x="795600" y="168264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Box 11"/>
          <p:cNvSpPr/>
          <p:nvPr/>
        </p:nvSpPr>
        <p:spPr>
          <a:xfrm>
            <a:off x="1179720" y="1682640"/>
            <a:ext cx="14497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数据监测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Box 12"/>
          <p:cNvSpPr/>
          <p:nvPr/>
        </p:nvSpPr>
        <p:spPr>
          <a:xfrm>
            <a:off x="831960" y="1993320"/>
            <a:ext cx="1742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定时扫描业务数据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Right Arrow 13"/>
          <p:cNvSpPr/>
          <p:nvPr/>
        </p:nvSpPr>
        <p:spPr>
          <a:xfrm>
            <a:off x="2693880" y="186552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6" name="Rounded Rectangle 14"/>
          <p:cNvSpPr/>
          <p:nvPr/>
        </p:nvSpPr>
        <p:spPr>
          <a:xfrm>
            <a:off x="2885760" y="1554480"/>
            <a:ext cx="203508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891b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7" name="Rounded Rectangle 15"/>
          <p:cNvSpPr/>
          <p:nvPr/>
        </p:nvSpPr>
        <p:spPr>
          <a:xfrm>
            <a:off x="2995560" y="168264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Box 16"/>
          <p:cNvSpPr/>
          <p:nvPr/>
        </p:nvSpPr>
        <p:spPr>
          <a:xfrm>
            <a:off x="3379680" y="1682640"/>
            <a:ext cx="14497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风险识别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Box 17"/>
          <p:cNvSpPr/>
          <p:nvPr/>
        </p:nvSpPr>
        <p:spPr>
          <a:xfrm>
            <a:off x="3032280" y="1993320"/>
            <a:ext cx="1742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规则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+ 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判断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Right Arrow 18"/>
          <p:cNvSpPr/>
          <p:nvPr/>
        </p:nvSpPr>
        <p:spPr>
          <a:xfrm>
            <a:off x="4893840" y="186552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1" name="Rounded Rectangle 19"/>
          <p:cNvSpPr/>
          <p:nvPr/>
        </p:nvSpPr>
        <p:spPr>
          <a:xfrm>
            <a:off x="5085720" y="1554480"/>
            <a:ext cx="203508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6d28d9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2" name="Rounded Rectangle 20"/>
          <p:cNvSpPr/>
          <p:nvPr/>
        </p:nvSpPr>
        <p:spPr>
          <a:xfrm>
            <a:off x="5195520" y="168264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Box 21"/>
          <p:cNvSpPr/>
          <p:nvPr/>
        </p:nvSpPr>
        <p:spPr>
          <a:xfrm>
            <a:off x="5579640" y="1682640"/>
            <a:ext cx="14497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任务分派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Box 22"/>
          <p:cNvSpPr/>
          <p:nvPr/>
        </p:nvSpPr>
        <p:spPr>
          <a:xfrm>
            <a:off x="5232240" y="1993320"/>
            <a:ext cx="1742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推送责任人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Right Arrow 23"/>
          <p:cNvSpPr/>
          <p:nvPr/>
        </p:nvSpPr>
        <p:spPr>
          <a:xfrm>
            <a:off x="7093800" y="186552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6" name="Rounded Rectangle 24"/>
          <p:cNvSpPr/>
          <p:nvPr/>
        </p:nvSpPr>
        <p:spPr>
          <a:xfrm>
            <a:off x="7286040" y="1554480"/>
            <a:ext cx="203508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ea580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7" name="Rounded Rectangle 25"/>
          <p:cNvSpPr/>
          <p:nvPr/>
        </p:nvSpPr>
        <p:spPr>
          <a:xfrm>
            <a:off x="7395840" y="168264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Box 26"/>
          <p:cNvSpPr/>
          <p:nvPr/>
        </p:nvSpPr>
        <p:spPr>
          <a:xfrm>
            <a:off x="7779600" y="1682640"/>
            <a:ext cx="14497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学生触达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Box 27"/>
          <p:cNvSpPr/>
          <p:nvPr/>
        </p:nvSpPr>
        <p:spPr>
          <a:xfrm>
            <a:off x="7432200" y="1993320"/>
            <a:ext cx="1742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四语通知提醒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Right Arrow 28"/>
          <p:cNvSpPr/>
          <p:nvPr/>
        </p:nvSpPr>
        <p:spPr>
          <a:xfrm>
            <a:off x="9294120" y="186552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1" name="Rounded Rectangle 29"/>
          <p:cNvSpPr/>
          <p:nvPr/>
        </p:nvSpPr>
        <p:spPr>
          <a:xfrm>
            <a:off x="9486000" y="1554480"/>
            <a:ext cx="203508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d94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2" name="Rounded Rectangle 30"/>
          <p:cNvSpPr/>
          <p:nvPr/>
        </p:nvSpPr>
        <p:spPr>
          <a:xfrm>
            <a:off x="9595800" y="168264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5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Box 31"/>
          <p:cNvSpPr/>
          <p:nvPr/>
        </p:nvSpPr>
        <p:spPr>
          <a:xfrm>
            <a:off x="9979920" y="1682640"/>
            <a:ext cx="14497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处置跟踪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Box 32"/>
          <p:cNvSpPr/>
          <p:nvPr/>
        </p:nvSpPr>
        <p:spPr>
          <a:xfrm>
            <a:off x="9632160" y="1993320"/>
            <a:ext cx="1742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超时升级与复盘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Rounded Rectangle 33"/>
          <p:cNvSpPr/>
          <p:nvPr/>
        </p:nvSpPr>
        <p:spPr>
          <a:xfrm>
            <a:off x="777240" y="3063240"/>
            <a:ext cx="1188360" cy="3470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系统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Rectangle 34"/>
          <p:cNvSpPr/>
          <p:nvPr/>
        </p:nvSpPr>
        <p:spPr>
          <a:xfrm>
            <a:off x="2057400" y="3227760"/>
            <a:ext cx="9143640" cy="1044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7" name="Rounded Rectangle 35"/>
          <p:cNvSpPr/>
          <p:nvPr/>
        </p:nvSpPr>
        <p:spPr>
          <a:xfrm>
            <a:off x="777240" y="3721680"/>
            <a:ext cx="1188360" cy="34704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AI Agent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Rectangle 36"/>
          <p:cNvSpPr/>
          <p:nvPr/>
        </p:nvSpPr>
        <p:spPr>
          <a:xfrm>
            <a:off x="2057400" y="3886200"/>
            <a:ext cx="9143640" cy="1044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9" name="Rounded Rectangle 37"/>
          <p:cNvSpPr/>
          <p:nvPr/>
        </p:nvSpPr>
        <p:spPr>
          <a:xfrm>
            <a:off x="777240" y="4380120"/>
            <a:ext cx="1188360" cy="3470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管理人员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Rectangle 38"/>
          <p:cNvSpPr/>
          <p:nvPr/>
        </p:nvSpPr>
        <p:spPr>
          <a:xfrm>
            <a:off x="2057400" y="4544640"/>
            <a:ext cx="9143640" cy="1044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1" name="Rounded Rectangle 39"/>
          <p:cNvSpPr/>
          <p:nvPr/>
        </p:nvSpPr>
        <p:spPr>
          <a:xfrm>
            <a:off x="777240" y="5038200"/>
            <a:ext cx="1188360" cy="34704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900" spc="-1" strike="noStrike">
                <a:solidFill>
                  <a:srgbClr val="ffffff"/>
                </a:solidFill>
                <a:latin typeface="Microsoft YaHei"/>
              </a:rPr>
              <a:t>学生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Rectangle 40"/>
          <p:cNvSpPr/>
          <p:nvPr/>
        </p:nvSpPr>
        <p:spPr>
          <a:xfrm>
            <a:off x="2057400" y="5203080"/>
            <a:ext cx="9143640" cy="1044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3" name="Rounded Rectangle 41"/>
          <p:cNvSpPr/>
          <p:nvPr/>
        </p:nvSpPr>
        <p:spPr>
          <a:xfrm>
            <a:off x="2240280" y="2953440"/>
            <a:ext cx="1142640" cy="49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4" name="Rectangle 42"/>
          <p:cNvSpPr/>
          <p:nvPr/>
        </p:nvSpPr>
        <p:spPr>
          <a:xfrm>
            <a:off x="2240280" y="2953440"/>
            <a:ext cx="114264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5" name="TextBox 43"/>
          <p:cNvSpPr/>
          <p:nvPr/>
        </p:nvSpPr>
        <p:spPr>
          <a:xfrm>
            <a:off x="2441520" y="3136320"/>
            <a:ext cx="74016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发现签证</a:t>
            </a:r>
            <a:br>
              <a:rPr sz="1250"/>
            </a:b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30</a:t>
            </a: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天到期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Rounded Rectangle 44"/>
          <p:cNvSpPr/>
          <p:nvPr/>
        </p:nvSpPr>
        <p:spPr>
          <a:xfrm>
            <a:off x="3977640" y="3611880"/>
            <a:ext cx="1142640" cy="49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7" name="Rectangle 45"/>
          <p:cNvSpPr/>
          <p:nvPr/>
        </p:nvSpPr>
        <p:spPr>
          <a:xfrm>
            <a:off x="3977640" y="3611880"/>
            <a:ext cx="114264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8" name="TextBox 46"/>
          <p:cNvSpPr/>
          <p:nvPr/>
        </p:nvSpPr>
        <p:spPr>
          <a:xfrm>
            <a:off x="4178880" y="3794760"/>
            <a:ext cx="74016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生成预警</a:t>
            </a:r>
            <a:br>
              <a:rPr sz="1250"/>
            </a:b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与建议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Rounded Rectangle 47"/>
          <p:cNvSpPr/>
          <p:nvPr/>
        </p:nvSpPr>
        <p:spPr>
          <a:xfrm>
            <a:off x="5623560" y="4270320"/>
            <a:ext cx="1142640" cy="49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0" name="Rectangle 48"/>
          <p:cNvSpPr/>
          <p:nvPr/>
        </p:nvSpPr>
        <p:spPr>
          <a:xfrm>
            <a:off x="5623560" y="4270320"/>
            <a:ext cx="114264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1" name="TextBox 49"/>
          <p:cNvSpPr/>
          <p:nvPr/>
        </p:nvSpPr>
        <p:spPr>
          <a:xfrm>
            <a:off x="5824800" y="4453200"/>
            <a:ext cx="74016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确认处理</a:t>
            </a:r>
            <a:br>
              <a:rPr sz="1250"/>
            </a:b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或补充信息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Rounded Rectangle 50"/>
          <p:cNvSpPr/>
          <p:nvPr/>
        </p:nvSpPr>
        <p:spPr>
          <a:xfrm>
            <a:off x="7269480" y="4919400"/>
            <a:ext cx="1142640" cy="49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3" name="Rectangle 51"/>
          <p:cNvSpPr/>
          <p:nvPr/>
        </p:nvSpPr>
        <p:spPr>
          <a:xfrm>
            <a:off x="7269480" y="4919400"/>
            <a:ext cx="114264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4" name="TextBox 52"/>
          <p:cNvSpPr/>
          <p:nvPr/>
        </p:nvSpPr>
        <p:spPr>
          <a:xfrm>
            <a:off x="7470720" y="5102280"/>
            <a:ext cx="74016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收到四语</a:t>
            </a:r>
            <a:br>
              <a:rPr sz="1250"/>
            </a:b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提醒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Rounded Rectangle 53"/>
          <p:cNvSpPr/>
          <p:nvPr/>
        </p:nvSpPr>
        <p:spPr>
          <a:xfrm>
            <a:off x="8915400" y="3611880"/>
            <a:ext cx="1142640" cy="49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6" name="Rectangle 54"/>
          <p:cNvSpPr/>
          <p:nvPr/>
        </p:nvSpPr>
        <p:spPr>
          <a:xfrm>
            <a:off x="8915400" y="3611880"/>
            <a:ext cx="114264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7" name="TextBox 55"/>
          <p:cNvSpPr/>
          <p:nvPr/>
        </p:nvSpPr>
        <p:spPr>
          <a:xfrm>
            <a:off x="9116640" y="3794760"/>
            <a:ext cx="74016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更新状态</a:t>
            </a:r>
            <a:br>
              <a:rPr sz="1250"/>
            </a:b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关闭预警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9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0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1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智能预警中心：分级、分派、跟踪、复盘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建议设置红</a:t>
            </a:r>
            <a:r>
              <a:rPr b="0" lang="en-US" sz="120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橙</a:t>
            </a:r>
            <a:r>
              <a:rPr b="0" lang="en-US" sz="120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黄</a:t>
            </a:r>
            <a:r>
              <a:rPr b="0" lang="en-US" sz="120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蓝四级预警，结合业务规则与 </a:t>
            </a:r>
            <a:r>
              <a:rPr b="0" lang="en-US" sz="120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判断提升准确性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4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14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Rounded Rectangle 9"/>
          <p:cNvSpPr/>
          <p:nvPr/>
        </p:nvSpPr>
        <p:spPr>
          <a:xfrm>
            <a:off x="731520" y="1444680"/>
            <a:ext cx="324576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7" name="Rectangle 10"/>
          <p:cNvSpPr/>
          <p:nvPr/>
        </p:nvSpPr>
        <p:spPr>
          <a:xfrm>
            <a:off x="731520" y="1444680"/>
            <a:ext cx="324576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8" name="TextBox 11"/>
          <p:cNvSpPr/>
          <p:nvPr/>
        </p:nvSpPr>
        <p:spPr>
          <a:xfrm>
            <a:off x="932760" y="162756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费用风险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Box 12"/>
          <p:cNvSpPr/>
          <p:nvPr/>
        </p:nvSpPr>
        <p:spPr>
          <a:xfrm>
            <a:off x="932760" y="2066400"/>
            <a:ext cx="28432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欠费金额、逾期天数、奖学金状态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Rounded Rectangle 13"/>
          <p:cNvSpPr/>
          <p:nvPr/>
        </p:nvSpPr>
        <p:spPr>
          <a:xfrm>
            <a:off x="4480560" y="1444680"/>
            <a:ext cx="324576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1" name="Rectangle 14"/>
          <p:cNvSpPr/>
          <p:nvPr/>
        </p:nvSpPr>
        <p:spPr>
          <a:xfrm>
            <a:off x="4480560" y="1444680"/>
            <a:ext cx="324576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2" name="TextBox 15"/>
          <p:cNvSpPr/>
          <p:nvPr/>
        </p:nvSpPr>
        <p:spPr>
          <a:xfrm>
            <a:off x="4681800" y="162756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学业风险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Box 16"/>
          <p:cNvSpPr/>
          <p:nvPr/>
        </p:nvSpPr>
        <p:spPr>
          <a:xfrm>
            <a:off x="4681800" y="2066400"/>
            <a:ext cx="28432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GPA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、缺勤、挂科、毕业进度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Rounded Rectangle 17"/>
          <p:cNvSpPr/>
          <p:nvPr/>
        </p:nvSpPr>
        <p:spPr>
          <a:xfrm>
            <a:off x="8229600" y="1444680"/>
            <a:ext cx="324576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5" name="Rectangle 18"/>
          <p:cNvSpPr/>
          <p:nvPr/>
        </p:nvSpPr>
        <p:spPr>
          <a:xfrm>
            <a:off x="8229600" y="1444680"/>
            <a:ext cx="3245760" cy="54360"/>
          </a:xfrm>
          <a:prstGeom prst="rect">
            <a:avLst/>
          </a:prstGeom>
          <a:solidFill>
            <a:srgbClr val="dc262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6" name="TextBox 19"/>
          <p:cNvSpPr/>
          <p:nvPr/>
        </p:nvSpPr>
        <p:spPr>
          <a:xfrm>
            <a:off x="8430840" y="162756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签证风险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Box 20"/>
          <p:cNvSpPr/>
          <p:nvPr/>
        </p:nvSpPr>
        <p:spPr>
          <a:xfrm>
            <a:off x="8430840" y="2066400"/>
            <a:ext cx="28432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有效期、材料缺失、办理进度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Rounded Rectangle 21"/>
          <p:cNvSpPr/>
          <p:nvPr/>
        </p:nvSpPr>
        <p:spPr>
          <a:xfrm>
            <a:off x="731520" y="2743200"/>
            <a:ext cx="324576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9" name="Rectangle 22"/>
          <p:cNvSpPr/>
          <p:nvPr/>
        </p:nvSpPr>
        <p:spPr>
          <a:xfrm>
            <a:off x="731520" y="2743200"/>
            <a:ext cx="324576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0" name="TextBox 23"/>
          <p:cNvSpPr/>
          <p:nvPr/>
        </p:nvSpPr>
        <p:spPr>
          <a:xfrm>
            <a:off x="932760" y="292608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住宿风险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Box 24"/>
          <p:cNvSpPr/>
          <p:nvPr/>
        </p:nvSpPr>
        <p:spPr>
          <a:xfrm>
            <a:off x="932760" y="3364920"/>
            <a:ext cx="28432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入住异常、退宿异常、违规记录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Rounded Rectangle 25"/>
          <p:cNvSpPr/>
          <p:nvPr/>
        </p:nvSpPr>
        <p:spPr>
          <a:xfrm>
            <a:off x="4480560" y="2743200"/>
            <a:ext cx="324576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3" name="Rectangle 26"/>
          <p:cNvSpPr/>
          <p:nvPr/>
        </p:nvSpPr>
        <p:spPr>
          <a:xfrm>
            <a:off x="4480560" y="2743200"/>
            <a:ext cx="324576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4" name="TextBox 27"/>
          <p:cNvSpPr/>
          <p:nvPr/>
        </p:nvSpPr>
        <p:spPr>
          <a:xfrm>
            <a:off x="4681800" y="292608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保险风险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Box 28"/>
          <p:cNvSpPr/>
          <p:nvPr/>
        </p:nvSpPr>
        <p:spPr>
          <a:xfrm>
            <a:off x="4681800" y="3364920"/>
            <a:ext cx="28432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保险过期、未购买、理赔异常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Rounded Rectangle 29"/>
          <p:cNvSpPr/>
          <p:nvPr/>
        </p:nvSpPr>
        <p:spPr>
          <a:xfrm>
            <a:off x="758880" y="4709160"/>
            <a:ext cx="1989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7" name="Rounded Rectangle 30"/>
          <p:cNvSpPr/>
          <p:nvPr/>
        </p:nvSpPr>
        <p:spPr>
          <a:xfrm>
            <a:off x="868680" y="483732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Box 31"/>
          <p:cNvSpPr/>
          <p:nvPr/>
        </p:nvSpPr>
        <p:spPr>
          <a:xfrm>
            <a:off x="1252800" y="4837320"/>
            <a:ext cx="14040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识别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Box 32"/>
          <p:cNvSpPr/>
          <p:nvPr/>
        </p:nvSpPr>
        <p:spPr>
          <a:xfrm>
            <a:off x="905400" y="5148000"/>
            <a:ext cx="16966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规则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模型触发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Right Arrow 33"/>
          <p:cNvSpPr/>
          <p:nvPr/>
        </p:nvSpPr>
        <p:spPr>
          <a:xfrm>
            <a:off x="2721240" y="502020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1" name="Rounded Rectangle 34"/>
          <p:cNvSpPr/>
          <p:nvPr/>
        </p:nvSpPr>
        <p:spPr>
          <a:xfrm>
            <a:off x="2913120" y="4709160"/>
            <a:ext cx="1989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ea580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2" name="Rounded Rectangle 35"/>
          <p:cNvSpPr/>
          <p:nvPr/>
        </p:nvSpPr>
        <p:spPr>
          <a:xfrm>
            <a:off x="3022920" y="483732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Box 36"/>
          <p:cNvSpPr/>
          <p:nvPr/>
        </p:nvSpPr>
        <p:spPr>
          <a:xfrm>
            <a:off x="3407040" y="4837320"/>
            <a:ext cx="14040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分级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Box 37"/>
          <p:cNvSpPr/>
          <p:nvPr/>
        </p:nvSpPr>
        <p:spPr>
          <a:xfrm>
            <a:off x="3059640" y="5148000"/>
            <a:ext cx="16966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红橙黄蓝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Right Arrow 38"/>
          <p:cNvSpPr/>
          <p:nvPr/>
        </p:nvSpPr>
        <p:spPr>
          <a:xfrm>
            <a:off x="4875480" y="502020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6" name="Rounded Rectangle 39"/>
          <p:cNvSpPr/>
          <p:nvPr/>
        </p:nvSpPr>
        <p:spPr>
          <a:xfrm>
            <a:off x="5067720" y="4709160"/>
            <a:ext cx="1989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d94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7" name="Rounded Rectangle 40"/>
          <p:cNvSpPr/>
          <p:nvPr/>
        </p:nvSpPr>
        <p:spPr>
          <a:xfrm>
            <a:off x="5177160" y="483732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TextBox 41"/>
          <p:cNvSpPr/>
          <p:nvPr/>
        </p:nvSpPr>
        <p:spPr>
          <a:xfrm>
            <a:off x="5561280" y="4837320"/>
            <a:ext cx="14040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推送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Box 42"/>
          <p:cNvSpPr/>
          <p:nvPr/>
        </p:nvSpPr>
        <p:spPr>
          <a:xfrm>
            <a:off x="5213880" y="5148000"/>
            <a:ext cx="16966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责任人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学生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Right Arrow 43"/>
          <p:cNvSpPr/>
          <p:nvPr/>
        </p:nvSpPr>
        <p:spPr>
          <a:xfrm>
            <a:off x="7030080" y="502020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1" name="Rounded Rectangle 44"/>
          <p:cNvSpPr/>
          <p:nvPr/>
        </p:nvSpPr>
        <p:spPr>
          <a:xfrm>
            <a:off x="7221960" y="4709160"/>
            <a:ext cx="1989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6d28d9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2" name="Rounded Rectangle 45"/>
          <p:cNvSpPr/>
          <p:nvPr/>
        </p:nvSpPr>
        <p:spPr>
          <a:xfrm>
            <a:off x="7331760" y="483732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Box 46"/>
          <p:cNvSpPr/>
          <p:nvPr/>
        </p:nvSpPr>
        <p:spPr>
          <a:xfrm>
            <a:off x="7715880" y="4837320"/>
            <a:ext cx="14040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处置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Box 47"/>
          <p:cNvSpPr/>
          <p:nvPr/>
        </p:nvSpPr>
        <p:spPr>
          <a:xfrm>
            <a:off x="7368120" y="5148000"/>
            <a:ext cx="16966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补缴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补办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辅导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Right Arrow 48"/>
          <p:cNvSpPr/>
          <p:nvPr/>
        </p:nvSpPr>
        <p:spPr>
          <a:xfrm>
            <a:off x="9184320" y="502020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6" name="Rounded Rectangle 49"/>
          <p:cNvSpPr/>
          <p:nvPr/>
        </p:nvSpPr>
        <p:spPr>
          <a:xfrm>
            <a:off x="9376200" y="4709160"/>
            <a:ext cx="1989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16a34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7" name="Rounded Rectangle 50"/>
          <p:cNvSpPr/>
          <p:nvPr/>
        </p:nvSpPr>
        <p:spPr>
          <a:xfrm>
            <a:off x="9486000" y="483732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5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Box 51"/>
          <p:cNvSpPr/>
          <p:nvPr/>
        </p:nvSpPr>
        <p:spPr>
          <a:xfrm>
            <a:off x="9870120" y="4837320"/>
            <a:ext cx="14040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复盘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Box 52"/>
          <p:cNvSpPr/>
          <p:nvPr/>
        </p:nvSpPr>
        <p:spPr>
          <a:xfrm>
            <a:off x="9522720" y="5148000"/>
            <a:ext cx="16966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报告与优化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1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2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3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多语言 </a:t>
            </a:r>
            <a:r>
              <a:rPr b="1" lang="en-US" sz="270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助手：提升学生服务体验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在学生端延展中文、英文、日文、韩文四语种服务，降低重复咨询压力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6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15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8" name="Picture 9" descr="multilingual-ai-assistant-rgb.jpg"/>
          <p:cNvPicPr/>
          <p:nvPr/>
        </p:nvPicPr>
        <p:blipFill>
          <a:blip r:embed="rId1"/>
          <a:stretch/>
        </p:blipFill>
        <p:spPr>
          <a:xfrm>
            <a:off x="777240" y="1778400"/>
            <a:ext cx="4937400" cy="3291480"/>
          </a:xfrm>
          <a:prstGeom prst="rect">
            <a:avLst/>
          </a:prstGeom>
          <a:ln w="0">
            <a:noFill/>
          </a:ln>
        </p:spPr>
      </p:pic>
      <p:sp>
        <p:nvSpPr>
          <p:cNvPr id="709" name="Rounded Rectangle 10"/>
          <p:cNvSpPr/>
          <p:nvPr/>
        </p:nvSpPr>
        <p:spPr>
          <a:xfrm>
            <a:off x="6080760" y="135324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0" name="Rectangle 11"/>
          <p:cNvSpPr/>
          <p:nvPr/>
        </p:nvSpPr>
        <p:spPr>
          <a:xfrm>
            <a:off x="6080760" y="1353240"/>
            <a:ext cx="484596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1" name="TextBox 12"/>
          <p:cNvSpPr/>
          <p:nvPr/>
        </p:nvSpPr>
        <p:spPr>
          <a:xfrm>
            <a:off x="6282000" y="153612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中文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Box 13"/>
          <p:cNvSpPr/>
          <p:nvPr/>
        </p:nvSpPr>
        <p:spPr>
          <a:xfrm>
            <a:off x="6282000" y="197496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入学材料、缴费、宿舍办理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Rounded Rectangle 14"/>
          <p:cNvSpPr/>
          <p:nvPr/>
        </p:nvSpPr>
        <p:spPr>
          <a:xfrm>
            <a:off x="6080760" y="234072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4" name="Rectangle 15"/>
          <p:cNvSpPr/>
          <p:nvPr/>
        </p:nvSpPr>
        <p:spPr>
          <a:xfrm>
            <a:off x="6080760" y="2340720"/>
            <a:ext cx="484596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5" name="TextBox 16"/>
          <p:cNvSpPr/>
          <p:nvPr/>
        </p:nvSpPr>
        <p:spPr>
          <a:xfrm>
            <a:off x="6282000" y="252360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English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Box 17"/>
          <p:cNvSpPr/>
          <p:nvPr/>
        </p:nvSpPr>
        <p:spPr>
          <a:xfrm>
            <a:off x="6282000" y="296280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Application, tuition, visa FAQ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Rounded Rectangle 18"/>
          <p:cNvSpPr/>
          <p:nvPr/>
        </p:nvSpPr>
        <p:spPr>
          <a:xfrm>
            <a:off x="6080760" y="332856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8" name="Rectangle 19"/>
          <p:cNvSpPr/>
          <p:nvPr/>
        </p:nvSpPr>
        <p:spPr>
          <a:xfrm>
            <a:off x="6080760" y="3328560"/>
            <a:ext cx="4845960" cy="543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9" name="TextBox 20"/>
          <p:cNvSpPr/>
          <p:nvPr/>
        </p:nvSpPr>
        <p:spPr>
          <a:xfrm>
            <a:off x="6282000" y="351144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日本語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TextBox 21"/>
          <p:cNvSpPr/>
          <p:nvPr/>
        </p:nvSpPr>
        <p:spPr>
          <a:xfrm>
            <a:off x="6282000" y="395028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入学案内、寮、在留期限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Rounded Rectangle 22"/>
          <p:cNvSpPr/>
          <p:nvPr/>
        </p:nvSpPr>
        <p:spPr>
          <a:xfrm>
            <a:off x="6080760" y="431604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2" name="Rectangle 23"/>
          <p:cNvSpPr/>
          <p:nvPr/>
        </p:nvSpPr>
        <p:spPr>
          <a:xfrm>
            <a:off x="6080760" y="4316040"/>
            <a:ext cx="484596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3" name="TextBox 24"/>
          <p:cNvSpPr/>
          <p:nvPr/>
        </p:nvSpPr>
        <p:spPr>
          <a:xfrm>
            <a:off x="6282000" y="449892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한국어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Box 25"/>
          <p:cNvSpPr/>
          <p:nvPr/>
        </p:nvSpPr>
        <p:spPr>
          <a:xfrm>
            <a:off x="6282000" y="493776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입학 안내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,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납부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,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기숙사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Rounded Rectangle 26"/>
          <p:cNvSpPr/>
          <p:nvPr/>
        </p:nvSpPr>
        <p:spPr>
          <a:xfrm>
            <a:off x="6080760" y="5413320"/>
            <a:ext cx="484596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6" name="Rectangle 27"/>
          <p:cNvSpPr/>
          <p:nvPr/>
        </p:nvSpPr>
        <p:spPr>
          <a:xfrm>
            <a:off x="6080760" y="5413320"/>
            <a:ext cx="484596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7" name="TextBox 28"/>
          <p:cNvSpPr/>
          <p:nvPr/>
        </p:nvSpPr>
        <p:spPr>
          <a:xfrm>
            <a:off x="6282000" y="5596200"/>
            <a:ext cx="44434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可扩展动作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Box 29"/>
          <p:cNvSpPr/>
          <p:nvPr/>
        </p:nvSpPr>
        <p:spPr>
          <a:xfrm>
            <a:off x="6282000" y="5888880"/>
            <a:ext cx="44434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查询个人状态、生成材料清单、提醒待办、连接人工老师或工单系统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0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1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2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技术实现建议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兼容现有 </a:t>
            </a:r>
            <a:r>
              <a:rPr b="0" lang="en-US" sz="1200" spc="-1" strike="noStrike">
                <a:solidFill>
                  <a:srgbClr val="64748b"/>
                </a:solidFill>
                <a:latin typeface="Microsoft YaHei"/>
              </a:rPr>
              <a:t>Java / Vue / </a:t>
            </a: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数据库技术栈，</a:t>
            </a:r>
            <a:r>
              <a:rPr b="0" lang="en-US" sz="120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能力可本地化或私有化部署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5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16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Rounded Rectangle 9"/>
          <p:cNvSpPr/>
          <p:nvPr/>
        </p:nvSpPr>
        <p:spPr>
          <a:xfrm>
            <a:off x="685800" y="1417320"/>
            <a:ext cx="2486880" cy="242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8" name="Rectangle 10"/>
          <p:cNvSpPr/>
          <p:nvPr/>
        </p:nvSpPr>
        <p:spPr>
          <a:xfrm>
            <a:off x="685800" y="1417320"/>
            <a:ext cx="248688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9" name="TextBox 11"/>
          <p:cNvSpPr/>
          <p:nvPr/>
        </p:nvSpPr>
        <p:spPr>
          <a:xfrm>
            <a:off x="887040" y="1600200"/>
            <a:ext cx="20844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前端展示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TextBox 12"/>
          <p:cNvSpPr/>
          <p:nvPr/>
        </p:nvSpPr>
        <p:spPr>
          <a:xfrm>
            <a:off x="887040" y="2020680"/>
            <a:ext cx="208440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Vue3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ECharts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DataV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多语言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i18n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Rounded Rectangle 13"/>
          <p:cNvSpPr/>
          <p:nvPr/>
        </p:nvSpPr>
        <p:spPr>
          <a:xfrm>
            <a:off x="3502080" y="1417320"/>
            <a:ext cx="2486880" cy="242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2" name="Rectangle 14"/>
          <p:cNvSpPr/>
          <p:nvPr/>
        </p:nvSpPr>
        <p:spPr>
          <a:xfrm>
            <a:off x="3502080" y="1417320"/>
            <a:ext cx="248688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3" name="TextBox 15"/>
          <p:cNvSpPr/>
          <p:nvPr/>
        </p:nvSpPr>
        <p:spPr>
          <a:xfrm>
            <a:off x="3703320" y="1600200"/>
            <a:ext cx="20844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后端服务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TextBox 16"/>
          <p:cNvSpPr/>
          <p:nvPr/>
        </p:nvSpPr>
        <p:spPr>
          <a:xfrm>
            <a:off x="3703320" y="2020680"/>
            <a:ext cx="208440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Spring Boot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Java 21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RBAC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任务调度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Rounded Rectangle 17"/>
          <p:cNvSpPr/>
          <p:nvPr/>
        </p:nvSpPr>
        <p:spPr>
          <a:xfrm>
            <a:off x="6318360" y="1417320"/>
            <a:ext cx="2486880" cy="242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6" name="Rectangle 18"/>
          <p:cNvSpPr/>
          <p:nvPr/>
        </p:nvSpPr>
        <p:spPr>
          <a:xfrm>
            <a:off x="6318360" y="1417320"/>
            <a:ext cx="248688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7" name="TextBox 19"/>
          <p:cNvSpPr/>
          <p:nvPr/>
        </p:nvSpPr>
        <p:spPr>
          <a:xfrm>
            <a:off x="6519600" y="1600200"/>
            <a:ext cx="20844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数据能力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Box 20"/>
          <p:cNvSpPr/>
          <p:nvPr/>
        </p:nvSpPr>
        <p:spPr>
          <a:xfrm>
            <a:off x="6519600" y="2020680"/>
            <a:ext cx="208440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MySQL/PostgreSQL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Redis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指标库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报表导出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Rounded Rectangle 21"/>
          <p:cNvSpPr/>
          <p:nvPr/>
        </p:nvSpPr>
        <p:spPr>
          <a:xfrm>
            <a:off x="9135000" y="1417320"/>
            <a:ext cx="2486880" cy="242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0" name="Rectangle 22"/>
          <p:cNvSpPr/>
          <p:nvPr/>
        </p:nvSpPr>
        <p:spPr>
          <a:xfrm>
            <a:off x="9135000" y="1417320"/>
            <a:ext cx="248688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1" name="TextBox 23"/>
          <p:cNvSpPr/>
          <p:nvPr/>
        </p:nvSpPr>
        <p:spPr>
          <a:xfrm>
            <a:off x="9335880" y="1600200"/>
            <a:ext cx="208440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能力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Box 24"/>
          <p:cNvSpPr/>
          <p:nvPr/>
        </p:nvSpPr>
        <p:spPr>
          <a:xfrm>
            <a:off x="9335880" y="2020680"/>
            <a:ext cx="208440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Qwen / GPT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LangChain4j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RAG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知识库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Agent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工作流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Rounded Rectangle 25"/>
          <p:cNvSpPr/>
          <p:nvPr/>
        </p:nvSpPr>
        <p:spPr>
          <a:xfrm>
            <a:off x="804600" y="4663440"/>
            <a:ext cx="196200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ea580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4" name="Rounded Rectangle 26"/>
          <p:cNvSpPr/>
          <p:nvPr/>
        </p:nvSpPr>
        <p:spPr>
          <a:xfrm>
            <a:off x="914400" y="47916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Box 27"/>
          <p:cNvSpPr/>
          <p:nvPr/>
        </p:nvSpPr>
        <p:spPr>
          <a:xfrm>
            <a:off x="1298520" y="4791600"/>
            <a:ext cx="13766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业务库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Box 28"/>
          <p:cNvSpPr/>
          <p:nvPr/>
        </p:nvSpPr>
        <p:spPr>
          <a:xfrm>
            <a:off x="951120" y="5102280"/>
            <a:ext cx="1669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只读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同步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Right Arrow 29"/>
          <p:cNvSpPr/>
          <p:nvPr/>
        </p:nvSpPr>
        <p:spPr>
          <a:xfrm>
            <a:off x="2739600" y="49744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8" name="Rounded Rectangle 30"/>
          <p:cNvSpPr/>
          <p:nvPr/>
        </p:nvSpPr>
        <p:spPr>
          <a:xfrm>
            <a:off x="2931480" y="4663440"/>
            <a:ext cx="196200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2563e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9" name="Rounded Rectangle 31"/>
          <p:cNvSpPr/>
          <p:nvPr/>
        </p:nvSpPr>
        <p:spPr>
          <a:xfrm>
            <a:off x="3041280" y="47916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Box 32"/>
          <p:cNvSpPr/>
          <p:nvPr/>
        </p:nvSpPr>
        <p:spPr>
          <a:xfrm>
            <a:off x="3425400" y="4791600"/>
            <a:ext cx="13766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数据服务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Box 33"/>
          <p:cNvSpPr/>
          <p:nvPr/>
        </p:nvSpPr>
        <p:spPr>
          <a:xfrm>
            <a:off x="3078000" y="5102280"/>
            <a:ext cx="1669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汇总口径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Right Arrow 34"/>
          <p:cNvSpPr/>
          <p:nvPr/>
        </p:nvSpPr>
        <p:spPr>
          <a:xfrm>
            <a:off x="4866480" y="49744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3" name="Rounded Rectangle 35"/>
          <p:cNvSpPr/>
          <p:nvPr/>
        </p:nvSpPr>
        <p:spPr>
          <a:xfrm>
            <a:off x="5058360" y="4663440"/>
            <a:ext cx="196200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891b2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4" name="Rounded Rectangle 36"/>
          <p:cNvSpPr/>
          <p:nvPr/>
        </p:nvSpPr>
        <p:spPr>
          <a:xfrm>
            <a:off x="5168160" y="47916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TextBox 37"/>
          <p:cNvSpPr/>
          <p:nvPr/>
        </p:nvSpPr>
        <p:spPr>
          <a:xfrm>
            <a:off x="5552280" y="4791600"/>
            <a:ext cx="13766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分析 </a:t>
            </a:r>
            <a:r>
              <a:rPr b="1" lang="en-US" sz="980" spc="-1" strike="noStrike">
                <a:solidFill>
                  <a:srgbClr val="0f172a"/>
                </a:solidFill>
                <a:latin typeface="Microsoft YaHei"/>
              </a:rPr>
              <a:t>API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Box 38"/>
          <p:cNvSpPr/>
          <p:nvPr/>
        </p:nvSpPr>
        <p:spPr>
          <a:xfrm>
            <a:off x="5204880" y="5102280"/>
            <a:ext cx="1669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报表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图表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Right Arrow 39"/>
          <p:cNvSpPr/>
          <p:nvPr/>
        </p:nvSpPr>
        <p:spPr>
          <a:xfrm>
            <a:off x="6993360" y="49744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8" name="Rounded Rectangle 40"/>
          <p:cNvSpPr/>
          <p:nvPr/>
        </p:nvSpPr>
        <p:spPr>
          <a:xfrm>
            <a:off x="7185240" y="4663440"/>
            <a:ext cx="196200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6d28d9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9" name="Rounded Rectangle 41"/>
          <p:cNvSpPr/>
          <p:nvPr/>
        </p:nvSpPr>
        <p:spPr>
          <a:xfrm>
            <a:off x="7295040" y="47916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TextBox 42"/>
          <p:cNvSpPr/>
          <p:nvPr/>
        </p:nvSpPr>
        <p:spPr>
          <a:xfrm>
            <a:off x="7679160" y="4791600"/>
            <a:ext cx="13766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8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服务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TextBox 43"/>
          <p:cNvSpPr/>
          <p:nvPr/>
        </p:nvSpPr>
        <p:spPr>
          <a:xfrm>
            <a:off x="7331760" y="5102280"/>
            <a:ext cx="1669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问数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/RAG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Right Arrow 44"/>
          <p:cNvSpPr/>
          <p:nvPr/>
        </p:nvSpPr>
        <p:spPr>
          <a:xfrm>
            <a:off x="9120240" y="497448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3" name="Rounded Rectangle 45"/>
          <p:cNvSpPr/>
          <p:nvPr/>
        </p:nvSpPr>
        <p:spPr>
          <a:xfrm>
            <a:off x="9312120" y="4663440"/>
            <a:ext cx="196200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120">
            <a:solidFill>
              <a:srgbClr val="0d9488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4" name="Rounded Rectangle 46"/>
          <p:cNvSpPr/>
          <p:nvPr/>
        </p:nvSpPr>
        <p:spPr>
          <a:xfrm>
            <a:off x="9421920" y="4791600"/>
            <a:ext cx="310680" cy="25560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icrosoft YaHei"/>
              </a:rPr>
              <a:t>5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Box 47"/>
          <p:cNvSpPr/>
          <p:nvPr/>
        </p:nvSpPr>
        <p:spPr>
          <a:xfrm>
            <a:off x="9806040" y="4791600"/>
            <a:ext cx="13766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980" spc="-1" strike="noStrike">
                <a:solidFill>
                  <a:srgbClr val="0f172a"/>
                </a:solidFill>
                <a:latin typeface="Microsoft YaHei"/>
              </a:rPr>
              <a:t>前端入口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Box 48"/>
          <p:cNvSpPr/>
          <p:nvPr/>
        </p:nvSpPr>
        <p:spPr>
          <a:xfrm>
            <a:off x="9458640" y="5102280"/>
            <a:ext cx="1669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驾驶舱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助手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8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9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0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数据安全与 </a:t>
            </a:r>
            <a:r>
              <a:rPr b="1" lang="en-US" sz="270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治理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统计分析和智能体必须基于权限、脱敏、审计和可控调用机制建设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3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17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Rounded Rectangle 9"/>
          <p:cNvSpPr/>
          <p:nvPr/>
        </p:nvSpPr>
        <p:spPr>
          <a:xfrm>
            <a:off x="694800" y="1371600"/>
            <a:ext cx="32457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6" name="Rectangle 10"/>
          <p:cNvSpPr/>
          <p:nvPr/>
        </p:nvSpPr>
        <p:spPr>
          <a:xfrm>
            <a:off x="694800" y="1371600"/>
            <a:ext cx="324576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7" name="TextBox 11"/>
          <p:cNvSpPr/>
          <p:nvPr/>
        </p:nvSpPr>
        <p:spPr>
          <a:xfrm>
            <a:off x="896040" y="155448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权限隔离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Box 12"/>
          <p:cNvSpPr/>
          <p:nvPr/>
        </p:nvSpPr>
        <p:spPr>
          <a:xfrm>
            <a:off x="896040" y="1993320"/>
            <a:ext cx="2843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RBAC +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数据范围控制，按角色授权到指标、部门、学生范围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Rounded Rectangle 13"/>
          <p:cNvSpPr/>
          <p:nvPr/>
        </p:nvSpPr>
        <p:spPr>
          <a:xfrm>
            <a:off x="4489560" y="1371600"/>
            <a:ext cx="32457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0" name="Rectangle 14"/>
          <p:cNvSpPr/>
          <p:nvPr/>
        </p:nvSpPr>
        <p:spPr>
          <a:xfrm>
            <a:off x="4489560" y="1371600"/>
            <a:ext cx="324576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1" name="TextBox 15"/>
          <p:cNvSpPr/>
          <p:nvPr/>
        </p:nvSpPr>
        <p:spPr>
          <a:xfrm>
            <a:off x="4690800" y="155448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敏感脱敏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Box 16"/>
          <p:cNvSpPr/>
          <p:nvPr/>
        </p:nvSpPr>
        <p:spPr>
          <a:xfrm>
            <a:off x="4690800" y="1993320"/>
            <a:ext cx="2843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护照号、证件号、联系方式、家庭信息等按场景展示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Rounded Rectangle 17"/>
          <p:cNvSpPr/>
          <p:nvPr/>
        </p:nvSpPr>
        <p:spPr>
          <a:xfrm>
            <a:off x="8284320" y="1371600"/>
            <a:ext cx="32457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4" name="Rectangle 18"/>
          <p:cNvSpPr/>
          <p:nvPr/>
        </p:nvSpPr>
        <p:spPr>
          <a:xfrm>
            <a:off x="8284320" y="1371600"/>
            <a:ext cx="324576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5" name="TextBox 19"/>
          <p:cNvSpPr/>
          <p:nvPr/>
        </p:nvSpPr>
        <p:spPr>
          <a:xfrm>
            <a:off x="8485560" y="155448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可控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Box 20"/>
          <p:cNvSpPr/>
          <p:nvPr/>
        </p:nvSpPr>
        <p:spPr>
          <a:xfrm>
            <a:off x="8485560" y="1993320"/>
            <a:ext cx="2843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AI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不直接越权读数；先做权限校验，再走受控数据接口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Rounded Rectangle 21"/>
          <p:cNvSpPr/>
          <p:nvPr/>
        </p:nvSpPr>
        <p:spPr>
          <a:xfrm>
            <a:off x="694800" y="2971800"/>
            <a:ext cx="32457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8" name="Rectangle 22"/>
          <p:cNvSpPr/>
          <p:nvPr/>
        </p:nvSpPr>
        <p:spPr>
          <a:xfrm>
            <a:off x="694800" y="2971800"/>
            <a:ext cx="324576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9" name="TextBox 23"/>
          <p:cNvSpPr/>
          <p:nvPr/>
        </p:nvSpPr>
        <p:spPr>
          <a:xfrm>
            <a:off x="896040" y="315468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审计追踪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Box 24"/>
          <p:cNvSpPr/>
          <p:nvPr/>
        </p:nvSpPr>
        <p:spPr>
          <a:xfrm>
            <a:off x="896040" y="3593520"/>
            <a:ext cx="2843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记录问数、导出、预警处置、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Agent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动作和人工修改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Rounded Rectangle 25"/>
          <p:cNvSpPr/>
          <p:nvPr/>
        </p:nvSpPr>
        <p:spPr>
          <a:xfrm>
            <a:off x="4489560" y="2971800"/>
            <a:ext cx="32457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2" name="Rectangle 26"/>
          <p:cNvSpPr/>
          <p:nvPr/>
        </p:nvSpPr>
        <p:spPr>
          <a:xfrm>
            <a:off x="4489560" y="2971800"/>
            <a:ext cx="3245760" cy="543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3" name="TextBox 27"/>
          <p:cNvSpPr/>
          <p:nvPr/>
        </p:nvSpPr>
        <p:spPr>
          <a:xfrm>
            <a:off x="4690800" y="315468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知识治理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extBox 28"/>
          <p:cNvSpPr/>
          <p:nvPr/>
        </p:nvSpPr>
        <p:spPr>
          <a:xfrm>
            <a:off x="4690800" y="3593520"/>
            <a:ext cx="2843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知识库版本管理、回答来源引用、人工审核与灰度发布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Rounded Rectangle 29"/>
          <p:cNvSpPr/>
          <p:nvPr/>
        </p:nvSpPr>
        <p:spPr>
          <a:xfrm>
            <a:off x="8284320" y="2971800"/>
            <a:ext cx="32457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6" name="Rectangle 30"/>
          <p:cNvSpPr/>
          <p:nvPr/>
        </p:nvSpPr>
        <p:spPr>
          <a:xfrm>
            <a:off x="8284320" y="2971800"/>
            <a:ext cx="3245760" cy="54360"/>
          </a:xfrm>
          <a:prstGeom prst="rect">
            <a:avLst/>
          </a:prstGeom>
          <a:solidFill>
            <a:srgbClr val="16a34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7" name="TextBox 31"/>
          <p:cNvSpPr/>
          <p:nvPr/>
        </p:nvSpPr>
        <p:spPr>
          <a:xfrm>
            <a:off x="8485560" y="3154680"/>
            <a:ext cx="284328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备份恢复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extBox 32"/>
          <p:cNvSpPr/>
          <p:nvPr/>
        </p:nvSpPr>
        <p:spPr>
          <a:xfrm>
            <a:off x="8485560" y="3593520"/>
            <a:ext cx="2843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数据库备份、日志留存、关键报表和预警配置可恢复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Rounded Rectangle 33"/>
          <p:cNvSpPr/>
          <p:nvPr/>
        </p:nvSpPr>
        <p:spPr>
          <a:xfrm>
            <a:off x="2743200" y="5760720"/>
            <a:ext cx="6720480" cy="4111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1100" spc="-1" strike="noStrike">
                <a:solidFill>
                  <a:srgbClr val="ffffff"/>
                </a:solidFill>
                <a:latin typeface="Microsoft YaHei"/>
              </a:rPr>
              <a:t>治理原则：最小权限、最少暴露、全程留痕、人工可接管、结果可解释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1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2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3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实施路径：先驾驶舱，再智能分析，最后 </a:t>
            </a:r>
            <a:r>
              <a:rPr b="1" lang="en-US" sz="2700" spc="-1" strike="noStrike">
                <a:solidFill>
                  <a:srgbClr val="0f172a"/>
                </a:solidFill>
                <a:latin typeface="Microsoft YaHei"/>
              </a:rPr>
              <a:t>Agent </a:t>
            </a: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闭环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以低耦合方式接入现有系统，优先交付可见价值，再逐步增强智能化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6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18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Rounded Rectangle 9"/>
          <p:cNvSpPr/>
          <p:nvPr/>
        </p:nvSpPr>
        <p:spPr>
          <a:xfrm>
            <a:off x="804600" y="1508760"/>
            <a:ext cx="31543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9" name="Rectangle 10"/>
          <p:cNvSpPr/>
          <p:nvPr/>
        </p:nvSpPr>
        <p:spPr>
          <a:xfrm>
            <a:off x="804600" y="1508760"/>
            <a:ext cx="315432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0" name="TextBox 11"/>
          <p:cNvSpPr/>
          <p:nvPr/>
        </p:nvSpPr>
        <p:spPr>
          <a:xfrm>
            <a:off x="1005840" y="1691640"/>
            <a:ext cx="2751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数据统计驾驶舱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TextBox 12"/>
          <p:cNvSpPr/>
          <p:nvPr/>
        </p:nvSpPr>
        <p:spPr>
          <a:xfrm>
            <a:off x="1005840" y="2112120"/>
            <a:ext cx="275184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统一指标口径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招生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学生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费用</a:t>
            </a: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/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教务专题报表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管理大屏与导出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Box 13"/>
          <p:cNvSpPr/>
          <p:nvPr/>
        </p:nvSpPr>
        <p:spPr>
          <a:xfrm>
            <a:off x="1005840" y="1938600"/>
            <a:ext cx="12798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400" spc="-1" strike="noStrike">
                <a:solidFill>
                  <a:srgbClr val="2563eb"/>
                </a:solidFill>
                <a:latin typeface="Microsoft YaHei"/>
              </a:rPr>
              <a:t>阶段一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Right Arrow 14"/>
          <p:cNvSpPr/>
          <p:nvPr/>
        </p:nvSpPr>
        <p:spPr>
          <a:xfrm>
            <a:off x="4050720" y="3090600"/>
            <a:ext cx="41112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4" name="Rounded Rectangle 15"/>
          <p:cNvSpPr/>
          <p:nvPr/>
        </p:nvSpPr>
        <p:spPr>
          <a:xfrm>
            <a:off x="4507920" y="1508760"/>
            <a:ext cx="31543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5" name="Rectangle 16"/>
          <p:cNvSpPr/>
          <p:nvPr/>
        </p:nvSpPr>
        <p:spPr>
          <a:xfrm>
            <a:off x="4507920" y="1508760"/>
            <a:ext cx="315432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6" name="TextBox 17"/>
          <p:cNvSpPr/>
          <p:nvPr/>
        </p:nvSpPr>
        <p:spPr>
          <a:xfrm>
            <a:off x="4709160" y="1691640"/>
            <a:ext cx="2751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AI </a:t>
            </a: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智能分析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extBox 18"/>
          <p:cNvSpPr/>
          <p:nvPr/>
        </p:nvSpPr>
        <p:spPr>
          <a:xfrm>
            <a:off x="4709160" y="2112120"/>
            <a:ext cx="275184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自然语言问数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自动图表与摘要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知识库问答与报表生成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extBox 19"/>
          <p:cNvSpPr/>
          <p:nvPr/>
        </p:nvSpPr>
        <p:spPr>
          <a:xfrm>
            <a:off x="4709160" y="1938600"/>
            <a:ext cx="12798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400" spc="-1" strike="noStrike">
                <a:solidFill>
                  <a:srgbClr val="6d28d9"/>
                </a:solidFill>
                <a:latin typeface="Microsoft YaHei"/>
              </a:rPr>
              <a:t>阶段二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Right Arrow 20"/>
          <p:cNvSpPr/>
          <p:nvPr/>
        </p:nvSpPr>
        <p:spPr>
          <a:xfrm>
            <a:off x="7754040" y="3090600"/>
            <a:ext cx="41112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0" name="Rounded Rectangle 21"/>
          <p:cNvSpPr/>
          <p:nvPr/>
        </p:nvSpPr>
        <p:spPr>
          <a:xfrm>
            <a:off x="8211240" y="1508760"/>
            <a:ext cx="3154320" cy="384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1" name="Rectangle 22"/>
          <p:cNvSpPr/>
          <p:nvPr/>
        </p:nvSpPr>
        <p:spPr>
          <a:xfrm>
            <a:off x="8211240" y="1508760"/>
            <a:ext cx="315432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2" name="TextBox 23"/>
          <p:cNvSpPr/>
          <p:nvPr/>
        </p:nvSpPr>
        <p:spPr>
          <a:xfrm>
            <a:off x="8412480" y="1691640"/>
            <a:ext cx="2751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智能预警与 </a:t>
            </a:r>
            <a:r>
              <a:rPr b="1" lang="en-US" sz="1250" spc="-1" strike="noStrike">
                <a:solidFill>
                  <a:srgbClr val="0f172a"/>
                </a:solidFill>
                <a:latin typeface="Microsoft YaHei"/>
              </a:rPr>
              <a:t>Agent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TextBox 24"/>
          <p:cNvSpPr/>
          <p:nvPr/>
        </p:nvSpPr>
        <p:spPr>
          <a:xfrm>
            <a:off x="8412480" y="2112120"/>
            <a:ext cx="275184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风险模型与分级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多语言通知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920" spc="-1" strike="noStrike">
                <a:solidFill>
                  <a:srgbClr val="1e293b"/>
                </a:solidFill>
                <a:latin typeface="Microsoft YaHei"/>
              </a:rPr>
              <a:t>• </a:t>
            </a:r>
            <a:r>
              <a:rPr b="0" lang="zh-CN" sz="920" spc="-1" strike="noStrike">
                <a:solidFill>
                  <a:srgbClr val="1e293b"/>
                </a:solidFill>
                <a:latin typeface="Microsoft YaHei"/>
              </a:rPr>
              <a:t>工单跟进与复盘报告</a:t>
            </a:r>
            <a:endParaRPr b="0" lang="en-US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extBox 25"/>
          <p:cNvSpPr/>
          <p:nvPr/>
        </p:nvSpPr>
        <p:spPr>
          <a:xfrm>
            <a:off x="8412480" y="1938600"/>
            <a:ext cx="12798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400" spc="-1" strike="noStrike">
                <a:solidFill>
                  <a:srgbClr val="0d9488"/>
                </a:solidFill>
                <a:latin typeface="Microsoft YaHei"/>
              </a:rPr>
              <a:t>阶段三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Rounded Rectangle 26"/>
          <p:cNvSpPr/>
          <p:nvPr/>
        </p:nvSpPr>
        <p:spPr>
          <a:xfrm>
            <a:off x="868680" y="5650920"/>
            <a:ext cx="10423800" cy="56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6" name="Rectangle 27"/>
          <p:cNvSpPr/>
          <p:nvPr/>
        </p:nvSpPr>
        <p:spPr>
          <a:xfrm>
            <a:off x="868680" y="5650920"/>
            <a:ext cx="1042380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7" name="TextBox 28"/>
          <p:cNvSpPr/>
          <p:nvPr/>
        </p:nvSpPr>
        <p:spPr>
          <a:xfrm>
            <a:off x="1069920" y="5833800"/>
            <a:ext cx="100213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交付建议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Box 29"/>
          <p:cNvSpPr/>
          <p:nvPr/>
        </p:nvSpPr>
        <p:spPr>
          <a:xfrm>
            <a:off x="1069920" y="6126480"/>
            <a:ext cx="100213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每个阶段都形成可演示成果：可视化页面、典型问数场景、预警闭环样例和权限审计记录。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0" name="Oval 2"/>
          <p:cNvSpPr/>
          <p:nvPr/>
        </p:nvSpPr>
        <p:spPr>
          <a:xfrm>
            <a:off x="10241280" y="-731520"/>
            <a:ext cx="2011320" cy="2011320"/>
          </a:xfrm>
          <a:prstGeom prst="ellipse">
            <a:avLst/>
          </a:prstGeom>
          <a:solidFill>
            <a:srgbClr val="dbea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1" name="Oval 3"/>
          <p:cNvSpPr/>
          <p:nvPr/>
        </p:nvSpPr>
        <p:spPr>
          <a:xfrm>
            <a:off x="-731520" y="5577840"/>
            <a:ext cx="1645560" cy="1645560"/>
          </a:xfrm>
          <a:prstGeom prst="ellipse">
            <a:avLst/>
          </a:prstGeom>
          <a:solidFill>
            <a:srgbClr val="ede9fe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2" name="TextBox 4"/>
          <p:cNvSpPr/>
          <p:nvPr/>
        </p:nvSpPr>
        <p:spPr>
          <a:xfrm>
            <a:off x="594360" y="320040"/>
            <a:ext cx="10058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700" spc="-1" strike="noStrike">
                <a:solidFill>
                  <a:srgbClr val="0f172a"/>
                </a:solidFill>
                <a:latin typeface="Microsoft YaHei"/>
              </a:rPr>
              <a:t>预期建设效果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Box 5"/>
          <p:cNvSpPr/>
          <p:nvPr/>
        </p:nvSpPr>
        <p:spPr>
          <a:xfrm>
            <a:off x="621720" y="914400"/>
            <a:ext cx="103323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64748b"/>
                </a:solidFill>
                <a:latin typeface="Microsoft YaHei"/>
              </a:rPr>
              <a:t>形成国际学生管理的数字化、智能化、国际化示范应用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Rectangle 6"/>
          <p:cNvSpPr/>
          <p:nvPr/>
        </p:nvSpPr>
        <p:spPr>
          <a:xfrm>
            <a:off x="502920" y="6492240"/>
            <a:ext cx="11155320" cy="1332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5" name="TextBox 7"/>
          <p:cNvSpPr/>
          <p:nvPr/>
        </p:nvSpPr>
        <p:spPr>
          <a:xfrm>
            <a:off x="548640" y="6546960"/>
            <a:ext cx="7772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国际学生智能管理平台｜数据统计与 </a:t>
            </a: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AI </a:t>
            </a:r>
            <a:r>
              <a:rPr b="0" lang="zh-CN" sz="780" spc="-1" strike="noStrike">
                <a:solidFill>
                  <a:srgbClr val="64748b"/>
                </a:solidFill>
                <a:latin typeface="Microsoft YaHei"/>
              </a:rPr>
              <a:t>智能体建设方案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extBox 8"/>
          <p:cNvSpPr/>
          <p:nvPr/>
        </p:nvSpPr>
        <p:spPr>
          <a:xfrm>
            <a:off x="11064240" y="6546960"/>
            <a:ext cx="548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80" spc="-1" strike="noStrike">
                <a:solidFill>
                  <a:srgbClr val="64748b"/>
                </a:solidFill>
                <a:latin typeface="Microsoft YaHei"/>
              </a:rPr>
              <a:t>19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Rounded Rectangle 9"/>
          <p:cNvSpPr/>
          <p:nvPr/>
        </p:nvSpPr>
        <p:spPr>
          <a:xfrm>
            <a:off x="822960" y="1508760"/>
            <a:ext cx="315432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8" name="Rectangle 10"/>
          <p:cNvSpPr/>
          <p:nvPr/>
        </p:nvSpPr>
        <p:spPr>
          <a:xfrm>
            <a:off x="822960" y="1508760"/>
            <a:ext cx="315432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9" name="TextBox 11"/>
          <p:cNvSpPr/>
          <p:nvPr/>
        </p:nvSpPr>
        <p:spPr>
          <a:xfrm>
            <a:off x="1024200" y="1691640"/>
            <a:ext cx="2751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管理效率提升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TextBox 12"/>
          <p:cNvSpPr/>
          <p:nvPr/>
        </p:nvSpPr>
        <p:spPr>
          <a:xfrm>
            <a:off x="1024200" y="2130480"/>
            <a:ext cx="27518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减少人工统计和跨部门对账工作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Rounded Rectangle 13"/>
          <p:cNvSpPr/>
          <p:nvPr/>
        </p:nvSpPr>
        <p:spPr>
          <a:xfrm>
            <a:off x="4526280" y="1508760"/>
            <a:ext cx="315432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2" name="Rectangle 14"/>
          <p:cNvSpPr/>
          <p:nvPr/>
        </p:nvSpPr>
        <p:spPr>
          <a:xfrm>
            <a:off x="4526280" y="1508760"/>
            <a:ext cx="3154320" cy="54360"/>
          </a:xfrm>
          <a:prstGeom prst="rect">
            <a:avLst/>
          </a:prstGeom>
          <a:solidFill>
            <a:srgbClr val="0891b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3" name="TextBox 15"/>
          <p:cNvSpPr/>
          <p:nvPr/>
        </p:nvSpPr>
        <p:spPr>
          <a:xfrm>
            <a:off x="4727520" y="1691640"/>
            <a:ext cx="2751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决策更及时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TextBox 16"/>
          <p:cNvSpPr/>
          <p:nvPr/>
        </p:nvSpPr>
        <p:spPr>
          <a:xfrm>
            <a:off x="4727520" y="2130480"/>
            <a:ext cx="27518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实时掌握招生、财务、学业、住宿动态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Rounded Rectangle 17"/>
          <p:cNvSpPr/>
          <p:nvPr/>
        </p:nvSpPr>
        <p:spPr>
          <a:xfrm>
            <a:off x="8229600" y="1508760"/>
            <a:ext cx="315432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6" name="Rectangle 18"/>
          <p:cNvSpPr/>
          <p:nvPr/>
        </p:nvSpPr>
        <p:spPr>
          <a:xfrm>
            <a:off x="8229600" y="1508760"/>
            <a:ext cx="3154320" cy="5436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7" name="TextBox 19"/>
          <p:cNvSpPr/>
          <p:nvPr/>
        </p:nvSpPr>
        <p:spPr>
          <a:xfrm>
            <a:off x="8430840" y="1691640"/>
            <a:ext cx="2751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风险更可控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TextBox 20"/>
          <p:cNvSpPr/>
          <p:nvPr/>
        </p:nvSpPr>
        <p:spPr>
          <a:xfrm>
            <a:off x="8430840" y="2130480"/>
            <a:ext cx="27518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提前发现欠费、签证、学业等重点风险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Rounded Rectangle 21"/>
          <p:cNvSpPr/>
          <p:nvPr/>
        </p:nvSpPr>
        <p:spPr>
          <a:xfrm>
            <a:off x="822960" y="3017520"/>
            <a:ext cx="315432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0" name="Rectangle 22"/>
          <p:cNvSpPr/>
          <p:nvPr/>
        </p:nvSpPr>
        <p:spPr>
          <a:xfrm>
            <a:off x="822960" y="3017520"/>
            <a:ext cx="3154320" cy="54360"/>
          </a:xfrm>
          <a:prstGeom prst="rect">
            <a:avLst/>
          </a:prstGeom>
          <a:solidFill>
            <a:srgbClr val="6d28d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1" name="TextBox 23"/>
          <p:cNvSpPr/>
          <p:nvPr/>
        </p:nvSpPr>
        <p:spPr>
          <a:xfrm>
            <a:off x="1024200" y="3200400"/>
            <a:ext cx="2751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服务更友好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TextBox 24"/>
          <p:cNvSpPr/>
          <p:nvPr/>
        </p:nvSpPr>
        <p:spPr>
          <a:xfrm>
            <a:off x="1024200" y="3639240"/>
            <a:ext cx="27518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四语种 </a:t>
            </a:r>
            <a:r>
              <a:rPr b="0" lang="en-US" sz="950" spc="-1" strike="noStrike">
                <a:solidFill>
                  <a:srgbClr val="1e293b"/>
                </a:solidFill>
                <a:latin typeface="Microsoft YaHei"/>
              </a:rPr>
              <a:t>AI </a:t>
            </a: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助手提升学生自助服务体验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Rounded Rectangle 25"/>
          <p:cNvSpPr/>
          <p:nvPr/>
        </p:nvSpPr>
        <p:spPr>
          <a:xfrm>
            <a:off x="4526280" y="3017520"/>
            <a:ext cx="3154320" cy="107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4" name="Rectangle 26"/>
          <p:cNvSpPr/>
          <p:nvPr/>
        </p:nvSpPr>
        <p:spPr>
          <a:xfrm>
            <a:off x="4526280" y="3017520"/>
            <a:ext cx="315432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5" name="TextBox 27"/>
          <p:cNvSpPr/>
          <p:nvPr/>
        </p:nvSpPr>
        <p:spPr>
          <a:xfrm>
            <a:off x="4727520" y="3200400"/>
            <a:ext cx="2751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50" spc="-1" strike="noStrike">
                <a:solidFill>
                  <a:srgbClr val="0f172a"/>
                </a:solidFill>
                <a:latin typeface="Microsoft YaHei"/>
              </a:rPr>
              <a:t>系统更有价值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TextBox 28"/>
          <p:cNvSpPr/>
          <p:nvPr/>
        </p:nvSpPr>
        <p:spPr>
          <a:xfrm>
            <a:off x="4727520" y="3639240"/>
            <a:ext cx="27518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1e293b"/>
                </a:solidFill>
                <a:latin typeface="Microsoft YaHei"/>
              </a:rPr>
              <a:t>现有业务系统升级为数据资产和智能运营平台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Rounded Rectangle 29"/>
          <p:cNvSpPr/>
          <p:nvPr/>
        </p:nvSpPr>
        <p:spPr>
          <a:xfrm>
            <a:off x="1143000" y="4983480"/>
            <a:ext cx="9920880" cy="8226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从“管理系统”升级为“数据智能平台”：用统计看全局，用 </a:t>
            </a: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AI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找答案，用 </a:t>
            </a: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Agent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促闭环。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Cursor Cloud Agent</dc:creator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>数据驾驶舱、AI智能分析、智能预警、多语言AI助手</dc:subject>
  <dc:title>国际学生智能管理平台数据统计与AI智能体建设方案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