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:Relationships xmlns:rel="http://schemas.openxmlformats.org/package/2006/relationships"><rel:Relationship Id="rId1" Type="http://schemas.openxmlformats.org/officeDocument/2006/relationships/slideMaster" Target="slideMasters/slideMaster1.xml" /><rel:Relationship Id="rId3" Type="http://schemas.openxmlformats.org/officeDocument/2006/relationships/presProps" Target="presProps.xml" /><rel:Relationship Id="rId4" Type="http://schemas.openxmlformats.org/officeDocument/2006/relationships/viewProps" Target="viewProps.xml" /><rel:Relationship Id="rId5" Type="http://schemas.openxmlformats.org/officeDocument/2006/relationships/theme" Target="theme/theme1.xml" /><rel:Relationship Id="rId6" Type="http://schemas.openxmlformats.org/officeDocument/2006/relationships/tableStyles" Target="tableStyles.xml" /><rel:Relationship Id="rId7" Type="http://schemas.openxmlformats.org/officeDocument/2006/relationships/slide" Target="slides/slide1.xml" /><rel:Relationship Id="rId8" Type="http://schemas.openxmlformats.org/officeDocument/2006/relationships/slide" Target="slides/slide2.xml" /><rel:Relationship Id="rId9" Type="http://schemas.openxmlformats.org/officeDocument/2006/relationships/slide" Target="slides/slide3.xml" /><rel:Relationship Id="rId10" Type="http://schemas.openxmlformats.org/officeDocument/2006/relationships/slide" Target="slides/slide4.xml" /><rel:Relationship Id="rId11" Type="http://schemas.openxmlformats.org/officeDocument/2006/relationships/slide" Target="slides/slide5.xml" /><rel:Relationship Id="rId12" Type="http://schemas.openxmlformats.org/officeDocument/2006/relationships/slide" Target="slides/slide6.xml" /><rel:Relationship Id="rId13" Type="http://schemas.openxmlformats.org/officeDocument/2006/relationships/slide" Target="slides/slide7.xml" /><rel:Relationship Id="rId14" Type="http://schemas.openxmlformats.org/officeDocument/2006/relationships/slide" Target="slides/slide8.xml" /><rel:Relationship Id="rId15" Type="http://schemas.openxmlformats.org/officeDocument/2006/relationships/slide" Target="slides/slide9.xml" /><rel:Relationship Id="rId16" Type="http://schemas.openxmlformats.org/officeDocument/2006/relationships/slide" Target="slides/slide10.xml" /><rel:Relationship Id="rId17" Type="http://schemas.openxmlformats.org/officeDocument/2006/relationships/slide" Target="slides/slide11.xml" /><rel:Relationship Id="rId18" Type="http://schemas.openxmlformats.org/officeDocument/2006/relationships/slide" Target="slides/slide12.xml" /><rel:Relationship Id="rId19" Type="http://schemas.openxmlformats.org/officeDocument/2006/relationships/slide" Target="slides/slide13.xml" /><rel:Relationship Id="rId20" Type="http://schemas.openxmlformats.org/officeDocument/2006/relationships/slide" Target="slides/slide14.xml" /><rel:Relationship Id="rId21" Type="http://schemas.openxmlformats.org/officeDocument/2006/relationships/slide" Target="slides/slide15.xml" /><rel:Relationship Id="rId22" Type="http://schemas.openxmlformats.org/officeDocument/2006/relationships/slide" Target="slides/slide16.xml" /><rel:Relationship Id="rId23" Type="http://schemas.openxmlformats.org/officeDocument/2006/relationships/slide" Target="slides/slide17.xml" /><rel:Relationship Id="rId24" Type="http://schemas.openxmlformats.org/officeDocument/2006/relationships/slide" Target="slides/slide18.xml" /><rel:Relationship Id="rId25" Type="http://schemas.openxmlformats.org/officeDocument/2006/relationships/slide" Target="slides/slide19.xml" /></rel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rnational-student-ai-dashboard-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27760"/>
            <a:ext cx="5257800" cy="3505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658368"/>
            <a:ext cx="2011680" cy="34747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优化版方案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34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国际学生智能管理平台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FDBFE"/>
                </a:solidFill>
                <a:latin typeface="Microsoft YaHei"/>
              </a:defRPr>
            </a:pPr>
            <a:r>
              <a:t>数据统计驾驶舱与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163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面向招生、审核、住宿、费用、教务、保险、多语言服务的一体化数据分析与智能运营升级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703320"/>
            <a:ext cx="102412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数据驾驶舱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79" y="3703320"/>
            <a:ext cx="1024128" cy="36576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AI 问数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1" y="3703320"/>
            <a:ext cx="1024128" cy="3657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智能预警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3703320"/>
            <a:ext cx="1024128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多语言助手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44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t>建设方向：统一数据资产｜可视化统计｜AI 智能分析｜Agent 闭环处置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从现状痛点到能力设计、系统架构与落地路径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65836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17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建设背景与目标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4" y="181051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明确系统升级方向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468880"/>
            <a:ext cx="658368" cy="47548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468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数据统计驾驶舱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286207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构建统一指标与大屏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520439"/>
            <a:ext cx="658368" cy="47548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52043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AI 分析与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4" y="3913631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从问数到闭环处置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72000"/>
            <a:ext cx="658368" cy="47548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5720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安全治理与实施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496519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可控、可审计、可落地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389888"/>
            <a:ext cx="44805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389888"/>
            <a:ext cx="44805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1572768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一屏掌握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2011680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招生、在校、费用、住宿、教务、保险核心指标集中呈现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697480"/>
            <a:ext cx="44805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2697480"/>
            <a:ext cx="44805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2880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一问即得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319272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领导和教师通过自然语言查询数据并生成图表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005072"/>
            <a:ext cx="44805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4005072"/>
            <a:ext cx="4480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187952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一键闭环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4626864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风险识别、通知、工单、跟进和复盘形成闭环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一、建设背景：从业务系统走向智能运营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现有系统已经覆盖核心业务，下一步需要把数据转化为管理洞察与服务能力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2423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6002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业务覆盖完整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039112"/>
            <a:ext cx="20208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招生、审核、住宿、费用、教务、保险等核心模块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563EB"/>
                </a:solidFill>
                <a:latin typeface="Microsoft YaHei"/>
              </a:defRPr>
            </a:pPr>
            <a:r>
              <a:t>6+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417320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417320"/>
            <a:ext cx="24231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16002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服务对象多元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039112"/>
            <a:ext cx="20208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领导、教师/管理人员、国际学生协同使用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D9488"/>
                </a:solidFill>
                <a:latin typeface="Microsoft YaHei"/>
              </a:defRPr>
            </a:pPr>
            <a:r>
              <a:t>3类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24231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16002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语言基础具备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039112"/>
            <a:ext cx="20208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中文、英文、日文、韩文学生端服务能力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6D28D9"/>
                </a:solidFill>
                <a:latin typeface="Microsoft YaHei"/>
              </a:defRPr>
            </a:pPr>
            <a:r>
              <a:t>4语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1417320"/>
            <a:ext cx="2423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59" y="1417320"/>
            <a:ext cx="24231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7" y="16002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升级重点明确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7" y="2039112"/>
            <a:ext cx="20208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数据统计、智能分析、预警处置、智能助手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7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EA580C"/>
                </a:solidFill>
                <a:latin typeface="Microsoft YaHei"/>
              </a:defRPr>
            </a:pPr>
            <a:r>
              <a:t>AI+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977639"/>
            <a:ext cx="1998878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4105655"/>
            <a:ext cx="310896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105655"/>
            <a:ext cx="14136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沉淀数据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416551"/>
            <a:ext cx="170627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统一采集业务数据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684678" y="4288535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76702" y="3977639"/>
            <a:ext cx="1998878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86430" y="4105655"/>
            <a:ext cx="310896" cy="2560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70478" y="4105655"/>
            <a:ext cx="14136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形成指标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23006" y="4416551"/>
            <a:ext cx="170627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构建统计口径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848148" y="4288535"/>
            <a:ext cx="219456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40172" y="3977639"/>
            <a:ext cx="1998878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49900" y="4105655"/>
            <a:ext cx="310896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3948" y="4105655"/>
            <a:ext cx="14136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可视分析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6476" y="4416551"/>
            <a:ext cx="170627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驾驶舱与报表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011619" y="4288535"/>
            <a:ext cx="219456" cy="20116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03643" y="3977639"/>
            <a:ext cx="1998878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3371" y="4105655"/>
            <a:ext cx="310896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7419" y="4105655"/>
            <a:ext cx="14136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智能决策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9947" y="4416551"/>
            <a:ext cx="170627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AI 问数和预测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175089" y="4288535"/>
            <a:ext cx="219456" cy="201168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367113" y="3977639"/>
            <a:ext cx="1998878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76841" y="4105655"/>
            <a:ext cx="3108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60889" y="4105655"/>
            <a:ext cx="14136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闭环服务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13417" y="4416551"/>
            <a:ext cx="170627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Agent 推动处置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当前系统能力基础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以既有业务模块为数据来源，新增统计分析层和智能服务层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0" name="Oval 9"/>
          <p:cNvSpPr/>
          <p:nvPr/>
        </p:nvSpPr>
        <p:spPr>
          <a:xfrm>
            <a:off x="4892040" y="2011680"/>
            <a:ext cx="2377440" cy="1645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242316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国际学生</a:t>
            </a:r>
            <a:br/>
            <a:r>
              <a:t>管理系统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32588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1325880"/>
            <a:ext cx="1600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1508760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招生管理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822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822960"/>
            <a:ext cx="16002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1005840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招生审核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822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822960"/>
            <a:ext cx="1600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005840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住宿安排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32588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1325880"/>
            <a:ext cx="16002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9568" y="1508760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费用管理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38912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4389120"/>
            <a:ext cx="16002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9968" y="4572000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教务管理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38912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4389120"/>
            <a:ext cx="16002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4572000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保险管理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965192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4965192"/>
            <a:ext cx="1600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5148072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四语种学生端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658368"/>
            <a:ext cx="45262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新增：统计分析驾驶舱 + AI 智能体 + 风险预警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当前痛点与升级切入点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数据未被统一组织、分析和闭环利用，是本次升级的核心切入点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417320"/>
            <a:ext cx="379476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417320"/>
            <a:ext cx="37947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00200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数据分散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039112"/>
            <a:ext cx="339242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模块间数据口径不统一，跨部门统计耗时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73168" y="1645920"/>
            <a:ext cx="749808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42432" y="1417320"/>
            <a:ext cx="48463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1417320"/>
            <a:ext cx="4846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统一指标体系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39112"/>
            <a:ext cx="444398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建立招生、财务、教务等主题数据集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2395728"/>
            <a:ext cx="379476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2395728"/>
            <a:ext cx="37947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578608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人工报表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017520"/>
            <a:ext cx="339242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月报/年报依赖手工汇总，难以实时追踪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73168" y="2624328"/>
            <a:ext cx="749808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42432" y="2395728"/>
            <a:ext cx="48463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42432" y="2395728"/>
            <a:ext cx="484632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578608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可视化驾驶舱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017520"/>
            <a:ext cx="444398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实时大屏、专题报表、自助分析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374136"/>
            <a:ext cx="379476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3374136"/>
            <a:ext cx="37947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3557016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缺少预警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3995928"/>
            <a:ext cx="339242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欠费、签证、学业、住宿风险发现滞后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773168" y="3602736"/>
            <a:ext cx="749808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2432" y="3374136"/>
            <a:ext cx="48463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42432" y="3374136"/>
            <a:ext cx="48463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3557016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智能预警模型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995928"/>
            <a:ext cx="444398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规则 + AI 识别风险并推动处置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4352544"/>
            <a:ext cx="379476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4352544"/>
            <a:ext cx="37947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535424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服务压力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4974336"/>
            <a:ext cx="339242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学生咨询重复，跨语言沟通成本较高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773168" y="4581144"/>
            <a:ext cx="749808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42432" y="4352544"/>
            <a:ext cx="48463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42432" y="4352544"/>
            <a:ext cx="484632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4535424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多语言 AI 助手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974336"/>
            <a:ext cx="4443984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四语种问答、业务指引、数据查询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建设目标：四类能力一体化升级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让管理者看得见、问得出、预判准、办得快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24871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数据驾驶舱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020824"/>
            <a:ext cx="208483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招生趋势、国家分布、在校规模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缴费率、欠费、住宿、保险状态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大屏、专题报表、移动端概览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8470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看得见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1417320"/>
            <a:ext cx="24871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1417320"/>
            <a:ext cx="2487168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AI 智能分析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020824"/>
            <a:ext cx="208483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自然语言问数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自动生成图表和分析结论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辅助领导决策和部门汇报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18470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YaHei"/>
              </a:defRPr>
            </a:pPr>
            <a:r>
              <a:t>问得出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1417320"/>
            <a:ext cx="24871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1417320"/>
            <a:ext cx="2487168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智能风险预警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020824"/>
            <a:ext cx="208483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欠费、签证到期、学业异常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住宿异常、保险缺失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分级预警和责任人推送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18470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Microsoft YaHei"/>
              </a:defRPr>
            </a:pPr>
            <a:r>
              <a:t>预判准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1417320"/>
            <a:ext cx="24871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1417320"/>
            <a:ext cx="24871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多语言 AI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020824"/>
            <a:ext cx="208483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中英日韩四语种咨询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自动指引流程和材料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触发工单、通知与跟进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18470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icrosoft YaHei"/>
              </a:defRPr>
            </a:pPr>
            <a:r>
              <a:t>办得快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总体建设架构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在现有业务系统之上叠加数据统计、智能分析和智能体应用层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298448"/>
            <a:ext cx="10652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298448"/>
            <a:ext cx="10652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81328"/>
            <a:ext cx="10250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用户层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444752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用户层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453896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领导驾驶舱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453896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招生教师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453896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财务人员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453896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辅导员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53896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国际学生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453896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管理员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139696"/>
            <a:ext cx="10652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2139696"/>
            <a:ext cx="10652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2322576"/>
            <a:ext cx="10250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2286000"/>
            <a:ext cx="1188720" cy="31089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2295144"/>
            <a:ext cx="123444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数据大屏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2295144"/>
            <a:ext cx="123444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专题报表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295144"/>
            <a:ext cx="123444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AI 问数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295144"/>
            <a:ext cx="123444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智能预警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295144"/>
            <a:ext cx="123444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AI 助手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295144"/>
            <a:ext cx="123444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Agent 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2980944"/>
            <a:ext cx="10652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2980944"/>
            <a:ext cx="1065276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3163824"/>
            <a:ext cx="10250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分析层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3127248"/>
            <a:ext cx="1188720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分析层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3136392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指标体系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3136392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多维分析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3136392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预测模型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3136392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画像标签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136392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9760" y="3136392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权限策略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822191"/>
            <a:ext cx="10652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3822191"/>
            <a:ext cx="10652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4005071"/>
            <a:ext cx="10250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" y="3968495"/>
            <a:ext cx="118872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23160" y="3977639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招生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0" y="3977639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审核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57800" y="3977639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住宿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3977639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费用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977639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教务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3977639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保险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4663440"/>
            <a:ext cx="10652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4663440"/>
            <a:ext cx="106527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" y="4846320"/>
            <a:ext cx="10250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" y="4809744"/>
            <a:ext cx="1188720" cy="31089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23160" y="4818888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MySQL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0480" y="4818888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57800" y="4818888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Redis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75120" y="4818888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日志数据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92440" y="4818888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文件资料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09760" y="4818888"/>
            <a:ext cx="12344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外部接口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5596128"/>
            <a:ext cx="239115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24128" y="5724144"/>
            <a:ext cx="310896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08176" y="5724144"/>
            <a:ext cx="18059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采集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" y="6035040"/>
            <a:ext cx="20985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业务数据同步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278124" y="5907024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470148" y="5596128"/>
            <a:ext cx="239115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579876" y="5724144"/>
            <a:ext cx="310896" cy="2560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63924" y="5724144"/>
            <a:ext cx="18059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治理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16452" y="6035040"/>
            <a:ext cx="20985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口径与权限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833872" y="5907024"/>
            <a:ext cx="219456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025896" y="5596128"/>
            <a:ext cx="239115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35624" y="5724144"/>
            <a:ext cx="310896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19672" y="5724144"/>
            <a:ext cx="18059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分析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2200" y="6035040"/>
            <a:ext cx="20985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统计/模型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8389620" y="5907024"/>
            <a:ext cx="219456" cy="20116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581644" y="5596128"/>
            <a:ext cx="239115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691372" y="5724144"/>
            <a:ext cx="3108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75420" y="5724144"/>
            <a:ext cx="18059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服务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27948" y="6035040"/>
            <a:ext cx="20985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大屏/Agent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数据统计驾驶舱：一屏掌握国际学生运营态势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建议作为新增一级功能入口，支持领导视图、部门视图和专题视图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6537960" cy="4526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627632"/>
            <a:ext cx="1325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09928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91B2"/>
                </a:solidFill>
                <a:latin typeface="Microsoft YaHei"/>
              </a:defRPr>
            </a:pPr>
            <a:r>
              <a:t>2,486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4825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在校学生 +8.2%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627632"/>
            <a:ext cx="1325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1709928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1,268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04825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报名人数 +12%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13631" y="1627632"/>
            <a:ext cx="1325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32503" y="1709928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Microsoft YaHei"/>
              </a:defRPr>
            </a:pPr>
            <a:r>
              <a:t>91.6%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3" y="204825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缴费率 +3.4%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4104" y="1627632"/>
            <a:ext cx="1325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1709928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Microsoft YaHei"/>
              </a:defRPr>
            </a:pPr>
            <a:r>
              <a:t>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2976" y="204825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风险预警 待处理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2606040"/>
            <a:ext cx="2788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788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招生趋势分析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037076"/>
            <a:ext cx="484632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3909060"/>
            <a:ext cx="4572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29968" y="3717035"/>
            <a:ext cx="448056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50592" y="3502152"/>
            <a:ext cx="429768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52928" y="3282696"/>
            <a:ext cx="448056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6424" y="419709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63624" y="380390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93392" y="394106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414016" y="34198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16352" y="351129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236976" y="298094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国家/地区来源分布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320040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Microsoft YaHei"/>
              </a:defRPr>
            </a:pPr>
            <a:r>
              <a:t>亚洲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3236976"/>
            <a:ext cx="1463040" cy="914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09160" y="3236976"/>
            <a:ext cx="1337636" cy="91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50215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Microsoft YaHei"/>
              </a:defRPr>
            </a:pPr>
            <a:r>
              <a:t>非洲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3538728"/>
            <a:ext cx="1463040" cy="914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09160" y="3538728"/>
            <a:ext cx="1003227" cy="914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3803904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Microsoft YaHei"/>
              </a:defRPr>
            </a:pPr>
            <a:r>
              <a:t>欧洲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09160" y="3840480"/>
            <a:ext cx="1463040" cy="914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09160" y="3840480"/>
            <a:ext cx="752420" cy="9144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10565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Microsoft YaHei"/>
              </a:defRPr>
            </a:pPr>
            <a:r>
              <a:t>美洲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09160" y="4142232"/>
            <a:ext cx="1463040" cy="914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709160" y="4142232"/>
            <a:ext cx="627017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0520" y="440740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09160" y="4443984"/>
            <a:ext cx="1463040" cy="914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09160" y="4443984"/>
            <a:ext cx="459812" cy="914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571231" y="1417320"/>
            <a:ext cx="3794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71231" y="1417320"/>
            <a:ext cx="3794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399" y="1600200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招生驾驶舱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399" y="2039112"/>
            <a:ext cx="339242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报名趋势、转化率、国家来源、审核效率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71231" y="2441448"/>
            <a:ext cx="3794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71231" y="2441448"/>
            <a:ext cx="379476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399" y="2624328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学生画像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399" y="3063240"/>
            <a:ext cx="339242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年级、专业、国籍、签证、学籍状态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71231" y="3465576"/>
            <a:ext cx="3794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71231" y="3465576"/>
            <a:ext cx="37947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399" y="3648456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费用分析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399" y="4087368"/>
            <a:ext cx="339242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应缴/已缴/欠费、缴费率、欠费排行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71231" y="4489704"/>
            <a:ext cx="3794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71231" y="4489704"/>
            <a:ext cx="37947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399" y="4672584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风险监控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399" y="5111496"/>
            <a:ext cx="339242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签证、学业、住宿、保险、费用预警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统计指标体系设计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建议先统一“指标口径”，再建设驾驶舱和 AI 问数能力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011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00200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招生统计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020824"/>
            <a:ext cx="16093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报名人数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审核通过率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录取转化率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国家来源 TOPN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417320"/>
            <a:ext cx="2011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7208" y="1417320"/>
            <a:ext cx="2011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1600200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学生统计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020824"/>
            <a:ext cx="16093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在校/离校/休学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专业/年级分布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签证有效期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学生画像标签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1496" y="1417320"/>
            <a:ext cx="2011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417320"/>
            <a:ext cx="20116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1600200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费用统计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2020824"/>
            <a:ext cx="16093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应收/实收/欠费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缴费率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奖学金统计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欠费风险等级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4" y="1417320"/>
            <a:ext cx="2011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15784" y="1417320"/>
            <a:ext cx="201168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1600200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教务统计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020824"/>
            <a:ext cx="16093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课程成绩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考勤异常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学业预警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毕业进度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0072" y="1417320"/>
            <a:ext cx="2011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417320"/>
            <a:ext cx="201168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600200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住宿/保险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020824"/>
            <a:ext cx="16093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床位入住率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住宿异常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保险有效期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理赔/缺失统计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870448"/>
            <a:ext cx="10698480" cy="42062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关键原则：同一指标只有一个口径，同一角色只看授权范围，同一预警必须有责任人与处置状态。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招生数据中心：从报名到录取的转化分析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支持招生团队快速识别重点国家、渠道效果与审核瓶颈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44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报名人数趋势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65959"/>
            <a:ext cx="586740" cy="1810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518287"/>
            <a:ext cx="586740" cy="441063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89687"/>
            <a:ext cx="5867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E293B"/>
                </a:solidFill>
                <a:latin typeface="Microsoft YaHei"/>
              </a:defRPr>
            </a:pPr>
            <a: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95927"/>
            <a:ext cx="6781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Microsoft YaHei"/>
              </a:defRPr>
            </a:pPr>
            <a:r>
              <a:t>1月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716" y="1965959"/>
            <a:ext cx="586740" cy="1810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37716" y="3297755"/>
            <a:ext cx="586740" cy="661595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7716" y="3069155"/>
            <a:ext cx="5867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E293B"/>
                </a:solidFill>
                <a:latin typeface="Microsoft YaHei"/>
              </a:defRPr>
            </a:pPr>
            <a: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1996" y="3995927"/>
            <a:ext cx="6781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Microsoft YaHei"/>
              </a:defRPr>
            </a:pPr>
            <a:r>
              <a:t>2月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52472" y="1965959"/>
            <a:ext cx="586740" cy="1810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52472" y="3003713"/>
            <a:ext cx="586740" cy="955637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2472" y="2775113"/>
            <a:ext cx="5867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E293B"/>
                </a:solidFill>
                <a:latin typeface="Microsoft YaHei"/>
              </a:defRPr>
            </a:pPr>
            <a:r>
              <a:t>260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6752" y="3995927"/>
            <a:ext cx="6781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Microsoft YaHei"/>
              </a:defRPr>
            </a:pPr>
            <a:r>
              <a:t>3月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67228" y="1965959"/>
            <a:ext cx="586740" cy="1810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67228" y="2636160"/>
            <a:ext cx="586740" cy="132319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7228" y="2407560"/>
            <a:ext cx="5867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E293B"/>
                </a:solidFill>
                <a:latin typeface="Microsoft YaHei"/>
              </a:defRPr>
            </a:pPr>
            <a:r>
              <a:t>360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1508" y="3995927"/>
            <a:ext cx="6781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81984" y="1965959"/>
            <a:ext cx="586740" cy="1810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81984" y="2378873"/>
            <a:ext cx="586740" cy="1580477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1984" y="2150273"/>
            <a:ext cx="5867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E293B"/>
                </a:solidFill>
                <a:latin typeface="Microsoft YaHei"/>
              </a:defRPr>
            </a:pPr>
            <a:r>
              <a:t>430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6264" y="3995927"/>
            <a:ext cx="6781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6740" y="1965959"/>
            <a:ext cx="586740" cy="1810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96740" y="2084831"/>
            <a:ext cx="586740" cy="187452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6740" y="1856231"/>
            <a:ext cx="5867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E293B"/>
                </a:solidFill>
                <a:latin typeface="Microsoft YaHei"/>
              </a:defRPr>
            </a:pPr>
            <a:r>
              <a:t>510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1020" y="3995927"/>
            <a:ext cx="6781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32120" y="141732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32120" y="1417320"/>
            <a:ext cx="233172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33288" y="1600200"/>
            <a:ext cx="1929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转化漏斗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3288" y="2020824"/>
            <a:ext cx="1929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报名 100%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初审通过 76%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录取确认 52%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32120" y="2697480"/>
            <a:ext cx="256032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报名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83580" y="3209544"/>
            <a:ext cx="2057400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审核通过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57900" y="3721608"/>
            <a:ext cx="1508760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录取确认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233672"/>
            <a:ext cx="100584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报到入学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1481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韩国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00032" y="1527048"/>
            <a:ext cx="160020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00032" y="1527048"/>
            <a:ext cx="1493520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82528" y="14813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28%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20482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日本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00032" y="2093976"/>
            <a:ext cx="160020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400032" y="2093976"/>
            <a:ext cx="1120140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82528" y="204825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21%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26151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泰国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00032" y="2660904"/>
            <a:ext cx="160020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400032" y="2660904"/>
            <a:ext cx="906780" cy="12801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82528" y="261518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17%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318211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俄罗斯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00032" y="3227832"/>
            <a:ext cx="160020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400032" y="3227832"/>
            <a:ext cx="640080" cy="12801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82528" y="318211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12%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9640" y="3749039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00032" y="3794759"/>
            <a:ext cx="1600200" cy="12801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400032" y="3794759"/>
            <a:ext cx="1173480" cy="12801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82528" y="374903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22%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79" y="4526280"/>
            <a:ext cx="3108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83879" y="4526280"/>
            <a:ext cx="31089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85047" y="4709160"/>
            <a:ext cx="2706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建议新增功能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5047" y="5129784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世界地图热力图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渠道投入产出分析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审核时效与退回原因统计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学生、费用、教务联动分析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把学生状态、缴费行为和学业表现关联起来，形成风险识别基础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17320"/>
            <a:ext cx="32461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17320"/>
            <a:ext cx="3246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学生画像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199339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207568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2,486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41401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在校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" y="295351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03580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126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337413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签证临期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391363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399592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433425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重点关注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" y="4983480"/>
            <a:ext cx="269748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按国籍/专业/年级钻取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1417320"/>
            <a:ext cx="32461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992" y="1417320"/>
            <a:ext cx="32461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160020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费用管理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4024" y="199339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207568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Microsoft YaHei"/>
              </a:defRPr>
            </a:pPr>
            <a:r>
              <a:t>91.6%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241401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缴费率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64024" y="295351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303580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Microsoft YaHei"/>
              </a:defRPr>
            </a:pPr>
            <a:r>
              <a:t>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6" y="337413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欠费人数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4024" y="391363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399592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Microsoft YaHei"/>
              </a:defRPr>
            </a:pPr>
            <a:r>
              <a:t>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2896" y="433425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高风险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64024" y="4983480"/>
            <a:ext cx="269748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自动生成欠费名单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2752" y="1417320"/>
            <a:ext cx="32461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02752" y="1417320"/>
            <a:ext cx="324612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160020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教务分析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58784" y="199339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77656" y="207568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YaHei"/>
              </a:defRPr>
            </a:pPr>
            <a:r>
              <a:t>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77656" y="241401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低绩点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58784" y="295351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7656" y="303580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YaHei"/>
              </a:defRPr>
            </a:pPr>
            <a:r>
              <a:t>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7656" y="337413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缺勤异常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58784" y="3913632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77656" y="3995928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77656" y="4334256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毕业预警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58784" y="4983480"/>
            <a:ext cx="2697480" cy="38404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学业风险分级预警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AI 智能分析：把“查报表”升级为“对话问数”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管理者可用自然语言提出问题，系统自动完成取数、分析、图表和结论输出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7160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71600"/>
            <a:ext cx="5029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54480"/>
            <a:ext cx="4626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AI 问数示例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1920240"/>
            <a:ext cx="3977639" cy="42062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1E293B"/>
                </a:solidFill>
                <a:latin typeface="Microsoft YaHei"/>
              </a:defRPr>
            </a:pPr>
            <a:r>
              <a:t>今年招生人数同比增长多少？哪些国家贡献最大？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33472"/>
            <a:ext cx="3977639" cy="420624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1E293B"/>
                </a:solidFill>
                <a:latin typeface="Microsoft YaHei"/>
              </a:defRPr>
            </a:pPr>
            <a:r>
              <a:t>同比增长 12.4%。韩国、日本、泰国贡献 66% 的新增报名。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3346704"/>
            <a:ext cx="3977639" cy="42062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1E293B"/>
                </a:solidFill>
                <a:latin typeface="Microsoft YaHei"/>
              </a:defRPr>
            </a:pPr>
            <a:r>
              <a:t>请生成招生分析图，并列出需要重点跟进的渠道。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059935"/>
            <a:ext cx="3977639" cy="420624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1E293B"/>
                </a:solidFill>
                <a:latin typeface="Microsoft YaHei"/>
              </a:defRPr>
            </a:pPr>
            <a:r>
              <a:t>已生成趋势图、国家分布图，并标记 3 个转化率偏低渠道。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600200"/>
            <a:ext cx="91988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1728216"/>
            <a:ext cx="310896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1728216"/>
            <a:ext cx="3346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语义理解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039112"/>
            <a:ext cx="6272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识别指标维度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73214" y="1911096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65238" y="1600200"/>
            <a:ext cx="91988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74966" y="1728216"/>
            <a:ext cx="310896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9014" y="1728216"/>
            <a:ext cx="3346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权限校验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1542" y="2039112"/>
            <a:ext cx="6272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判断数据范围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57692" y="1911096"/>
            <a:ext cx="219456" cy="20116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49716" y="1600200"/>
            <a:ext cx="91988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59444" y="1728216"/>
            <a:ext cx="310896" cy="2560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3492" y="1728216"/>
            <a:ext cx="3346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安全查询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6020" y="2039112"/>
            <a:ext cx="6272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SQL/接口取数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42171" y="1911096"/>
            <a:ext cx="219456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34195" y="1600200"/>
            <a:ext cx="91988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43923" y="1728216"/>
            <a:ext cx="310896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7971" y="1728216"/>
            <a:ext cx="3346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图表生成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0499" y="2039112"/>
            <a:ext cx="6272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自动可视化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0226649" y="1911096"/>
            <a:ext cx="219456" cy="201168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18673" y="1600200"/>
            <a:ext cx="919886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28401" y="1728216"/>
            <a:ext cx="3108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2449" y="1728216"/>
            <a:ext cx="3346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结论解释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4977" y="2039112"/>
            <a:ext cx="6272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摘要与建议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324612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80760" y="3246120"/>
            <a:ext cx="52578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3429000"/>
            <a:ext cx="4855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典型问题库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1928" y="3849624"/>
            <a:ext cx="4855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哪些国家学生最多？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未缴费学生有哪些，按风险排序。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哪些学生存在学业和签证双重风险？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本月住宿异常是否上升？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49834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0760" y="4983480"/>
            <a:ext cx="5257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5166360"/>
            <a:ext cx="4855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输出形式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5605272"/>
            <a:ext cx="4855464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文字结论 + 图表 + 明细名单 + 可导出报表 + 后续处理建议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AI Agent 智能体：从发现问题到闭环处置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Agent 不只是回答问题，还能按授权触发通知、工单和跟进动作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203545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1682496"/>
            <a:ext cx="310896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1682496"/>
            <a:ext cx="145023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数据监测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1993392"/>
            <a:ext cx="17428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定时扫描业务数据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93822" y="1865376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5846" y="1554480"/>
            <a:ext cx="203545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95574" y="1682496"/>
            <a:ext cx="310896" cy="2560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9622" y="1682496"/>
            <a:ext cx="145023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风险识别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2150" y="1993392"/>
            <a:ext cx="17428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规则 + AI 判断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93868" y="1865376"/>
            <a:ext cx="219456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5892" y="1554480"/>
            <a:ext cx="203545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95620" y="1682496"/>
            <a:ext cx="310896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9668" y="1682496"/>
            <a:ext cx="145023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任务分派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2196" y="1993392"/>
            <a:ext cx="17428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推送责任人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93915" y="1865376"/>
            <a:ext cx="219456" cy="20116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85939" y="1554480"/>
            <a:ext cx="203545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95667" y="1682496"/>
            <a:ext cx="310896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9715" y="1682496"/>
            <a:ext cx="145023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学生触达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2243" y="1993392"/>
            <a:ext cx="17428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四语通知提醒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93961" y="1865376"/>
            <a:ext cx="219456" cy="201168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85985" y="1554480"/>
            <a:ext cx="203545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95713" y="1682496"/>
            <a:ext cx="3108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9761" y="1682496"/>
            <a:ext cx="145023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处置跟踪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2289" y="1993392"/>
            <a:ext cx="17428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超时升级与复盘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063240"/>
            <a:ext cx="11887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系统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3227832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3721608"/>
            <a:ext cx="1188720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886200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4379976"/>
            <a:ext cx="118872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管理人员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4544568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7240" y="5038344"/>
            <a:ext cx="118872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学生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520293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40280" y="2953512"/>
            <a:ext cx="114300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40280" y="2953512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41448" y="3136392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发现签证</a:t>
            </a:r>
            <a:br/>
            <a:r>
              <a:t>30天到期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3611880"/>
            <a:ext cx="114300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977639" y="3611880"/>
            <a:ext cx="11430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78807" y="3794760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生成预警</a:t>
            </a:r>
            <a:br/>
            <a:r>
              <a:t>与建议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23560" y="4270248"/>
            <a:ext cx="114300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23560" y="4270248"/>
            <a:ext cx="1143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24728" y="4453128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确认处理</a:t>
            </a:r>
            <a:br/>
            <a:r>
              <a:t>或补充信息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4919472"/>
            <a:ext cx="114300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69480" y="4919472"/>
            <a:ext cx="11430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0648" y="5102352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收到四语</a:t>
            </a:r>
            <a:br/>
            <a:r>
              <a:t>提醒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15400" y="3611880"/>
            <a:ext cx="114300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15400" y="3611880"/>
            <a:ext cx="11430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16568" y="3794760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更新状态</a:t>
            </a:r>
            <a:br/>
            <a:r>
              <a:t>关闭预警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智能预警中心：分级、分派、跟踪、复盘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建议设置红/橙/黄/蓝四级预警，结合业务规则与 AI 判断提升准确性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44752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44752"/>
            <a:ext cx="32461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6276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费用风险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66544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欠费金额、逾期天数、奖学金状态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444752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444752"/>
            <a:ext cx="324612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7" y="16276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学业风险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7" y="2066544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GPA、缺勤、挂科、毕业进度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44752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44752"/>
            <a:ext cx="32461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6276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签证风险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066544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有效期、材料缺失、办理进度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74320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3246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29260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住宿风险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364992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入住异常、退宿异常、违规记录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2743200"/>
            <a:ext cx="3246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2743200"/>
            <a:ext cx="3246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7" y="29260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保险风险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7" y="3364992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保险过期、未购买、理赔异常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709160"/>
            <a:ext cx="198973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4837176"/>
            <a:ext cx="310896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837176"/>
            <a:ext cx="140451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识别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48072"/>
            <a:ext cx="169712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规则/模型触发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721254" y="5020056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913278" y="4709160"/>
            <a:ext cx="198973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023006" y="4837176"/>
            <a:ext cx="310896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7054" y="4837176"/>
            <a:ext cx="140451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分级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59582" y="5148072"/>
            <a:ext cx="169712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红橙黄蓝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875580" y="5020056"/>
            <a:ext cx="219456" cy="201168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67604" y="4709160"/>
            <a:ext cx="198973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77332" y="4837176"/>
            <a:ext cx="3108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1380" y="4837176"/>
            <a:ext cx="140451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推送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3908" y="5148072"/>
            <a:ext cx="169712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责任人/学生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029907" y="5020056"/>
            <a:ext cx="219456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21931" y="4709160"/>
            <a:ext cx="198973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31659" y="4837176"/>
            <a:ext cx="310896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15707" y="4837176"/>
            <a:ext cx="140451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处置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8235" y="5148072"/>
            <a:ext cx="169712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补缴/补办/辅导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184233" y="5020056"/>
            <a:ext cx="219456" cy="20116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376257" y="4709160"/>
            <a:ext cx="1989734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85985" y="4837176"/>
            <a:ext cx="310896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0033" y="4837176"/>
            <a:ext cx="140451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复盘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22561" y="5148072"/>
            <a:ext cx="169712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报告与优化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多语言 AI 助手：提升学生服务体验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在学生端延展中文、英文、日文、韩文四语种服务，降低重复咨询压力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15</a:t>
            </a:r>
          </a:p>
        </p:txBody>
      </p:sp>
      <p:pic>
        <p:nvPicPr>
          <p:cNvPr id="10" name="Picture 9" descr="multilingual-ai-assistant-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78508"/>
            <a:ext cx="4937760" cy="3291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80760" y="1353312"/>
            <a:ext cx="4846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353312"/>
            <a:ext cx="4846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536192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中文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1975104"/>
            <a:ext cx="4443984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入学材料、缴费、宿舍办理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340864"/>
            <a:ext cx="4846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2340864"/>
            <a:ext cx="484632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523744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English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962656"/>
            <a:ext cx="4443984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Application, tuition, visa FAQ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328416"/>
            <a:ext cx="4846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3328416"/>
            <a:ext cx="484632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511296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日本語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950208"/>
            <a:ext cx="4443984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入学案内、寮、在留期限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315968"/>
            <a:ext cx="4846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4315968"/>
            <a:ext cx="4846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498848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한국어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4937760"/>
            <a:ext cx="4443984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입학 안내, 납부, 기숙사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5413248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5413248"/>
            <a:ext cx="48463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5596128"/>
            <a:ext cx="4443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可扩展动作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6035040"/>
            <a:ext cx="4443984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查询个人状态、生成材料清单、提醒待办、连接人工老师或工单系统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技术实现建议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兼容现有 Java / Vue / 数据库技术栈，AI 能力可本地化或私有化部署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248716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前端展示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020824"/>
            <a:ext cx="20848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Vue3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ECharts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DataV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多语言 i18n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1417320"/>
            <a:ext cx="248716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417320"/>
            <a:ext cx="24871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后端服务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020824"/>
            <a:ext cx="20848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Spring Boot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Java 21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RBAC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任务调度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417320"/>
            <a:ext cx="248716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1417320"/>
            <a:ext cx="2487168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数据能力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020824"/>
            <a:ext cx="20848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MySQL/PostgreSQL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Redis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指标库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报表导出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1417320"/>
            <a:ext cx="248716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4856" y="1417320"/>
            <a:ext cx="2487168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160020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AI 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020824"/>
            <a:ext cx="20848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Qwen / GPT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LangChain4j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RAG 知识库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Agent 工作流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4663440"/>
            <a:ext cx="1962302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791456"/>
            <a:ext cx="310896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791456"/>
            <a:ext cx="13770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业务库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5102352"/>
            <a:ext cx="16696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只读/同步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739542" y="4974336"/>
            <a:ext cx="219456" cy="201168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31566" y="4663440"/>
            <a:ext cx="1962302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41294" y="4791456"/>
            <a:ext cx="310896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5342" y="4791456"/>
            <a:ext cx="13770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数据服务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7870" y="5102352"/>
            <a:ext cx="16696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汇总口径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866436" y="4974336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58460" y="4663440"/>
            <a:ext cx="1962302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68188" y="4791456"/>
            <a:ext cx="310896" cy="25603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2236" y="4791456"/>
            <a:ext cx="13770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分析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4764" y="5102352"/>
            <a:ext cx="16696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报表/图表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993331" y="4974336"/>
            <a:ext cx="219456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85355" y="4663440"/>
            <a:ext cx="1962302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95083" y="4791456"/>
            <a:ext cx="310896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9131" y="4791456"/>
            <a:ext cx="13770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AI 服务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1659" y="5102352"/>
            <a:ext cx="16696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问数/RAG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120225" y="4974336"/>
            <a:ext cx="219456" cy="20116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12249" y="4663440"/>
            <a:ext cx="1962302" cy="8595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21977" y="4791456"/>
            <a:ext cx="3108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06025" y="4791456"/>
            <a:ext cx="13770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F172A"/>
                </a:solidFill>
                <a:latin typeface="Microsoft YaHei"/>
              </a:defRPr>
            </a:pPr>
            <a:r>
              <a:t>前端入口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8553" y="5102352"/>
            <a:ext cx="16696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驾驶舱/助手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数据安全与 AI 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统计分析和智能体必须基于权限、脱敏、审计和可控调用机制建设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37160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371600"/>
            <a:ext cx="3246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5544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权限隔离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993392"/>
            <a:ext cx="2843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RBAC + 数据范围控制，按角色授权到指标、部门、学生范围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137160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9704" y="1371600"/>
            <a:ext cx="3246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5544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敏感脱敏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1993392"/>
            <a:ext cx="2843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护照号、证件号、联系方式、家庭信息等按场景展示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37160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371600"/>
            <a:ext cx="324612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5544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AI 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1993392"/>
            <a:ext cx="2843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AI 不直接越权读数；先做权限校验，再走受控数据接口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297180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" y="2971800"/>
            <a:ext cx="32461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1546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审计追踪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593592"/>
            <a:ext cx="2843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记录问数、导出、预警处置、Agent 动作和人工修改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9704" y="297180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9704" y="2971800"/>
            <a:ext cx="324612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1546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知识治理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593592"/>
            <a:ext cx="2843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知识库版本管理、回答来源引用、人工审核与灰度发布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297180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4464" y="2971800"/>
            <a:ext cx="32461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3154680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备份恢复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3593592"/>
            <a:ext cx="2843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数据库备份、日志留存、关键报表和预警配置可恢复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760720"/>
            <a:ext cx="672084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治理原则：最小权限、最少暴露、全程留痕、人工可接管、结果可解释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实施路径：先驾驶舱，再智能分析，最后 Agent 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以低耦合方式接入现有系统，优先交付可见价值，再逐步增强智能化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508760"/>
            <a:ext cx="3154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508760"/>
            <a:ext cx="3154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9164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数据统计驾驶舱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12264"/>
            <a:ext cx="275234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统一指标口径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招生/学生/费用/教务专题报表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管理大屏与导出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38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阶段一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50792" y="3090672"/>
            <a:ext cx="4114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7992" y="1508760"/>
            <a:ext cx="3154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07992" y="1508760"/>
            <a:ext cx="315468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69164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AI 智能分析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12264"/>
            <a:ext cx="275234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自然语言问数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自动图表与摘要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知识库问答与报表生成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938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D28D9"/>
                </a:solidFill>
                <a:latin typeface="Microsoft YaHei"/>
              </a:defRPr>
            </a:pPr>
            <a:r>
              <a:t>阶段二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54112" y="3090672"/>
            <a:ext cx="4114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11312" y="1508760"/>
            <a:ext cx="3154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11312" y="1508760"/>
            <a:ext cx="3154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9164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智能预警与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12264"/>
            <a:ext cx="275234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风险模型与分级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多语言通知</a:t>
            </a:r>
          </a:p>
          <a:p>
            <a:pPr>
              <a:spcAft>
                <a:spcPts val="200"/>
              </a:spcAft>
              <a:defRPr sz="919">
                <a:solidFill>
                  <a:srgbClr val="1E293B"/>
                </a:solidFill>
                <a:latin typeface="Microsoft YaHei"/>
              </a:defRPr>
            </a:pPr>
            <a:r>
              <a:t>• 工单跟进与复盘报告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38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Microsoft YaHei"/>
              </a:defRPr>
            </a:pPr>
            <a:r>
              <a:t>阶段三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650992"/>
            <a:ext cx="10424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650992"/>
            <a:ext cx="104241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833872"/>
            <a:ext cx="10021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交付建议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6272784"/>
            <a:ext cx="10021824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每个阶段都形成可演示成果：可视化页面、典型问数场景、预警闭环样例和权限审计记录。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73152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预期建设效果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形成国际学生管理的数字化、智能化、国际化示范应用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国际学生智能管理平台｜数据统计与 AI 智能体建设方案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08760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08760"/>
            <a:ext cx="3154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69164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管理效率提升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130552"/>
            <a:ext cx="2752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减少人工统计和跨部门对账工作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508760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508760"/>
            <a:ext cx="315468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169164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决策更及时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130552"/>
            <a:ext cx="2752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实时掌握招生、财务、学业、住宿动态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08760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08760"/>
            <a:ext cx="31546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69164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风险更可控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130552"/>
            <a:ext cx="2752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提前发现欠费、签证、学业等重点风险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017520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017520"/>
            <a:ext cx="315468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20040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服务更友好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639312"/>
            <a:ext cx="2752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四语种 AI 助手提升学生自助服务体验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017520"/>
            <a:ext cx="3154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3017520"/>
            <a:ext cx="3154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3200400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  <a:latin typeface="Microsoft YaHei"/>
              </a:defRPr>
            </a:pPr>
            <a:r>
              <a:t>系统更有价值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3639312"/>
            <a:ext cx="2752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E293B"/>
                </a:solidFill>
                <a:latin typeface="Microsoft YaHei"/>
              </a:defRPr>
            </a:pPr>
            <a:r>
              <a:t>现有业务系统升级为数据资产和智能运营平台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983480"/>
            <a:ext cx="992124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从“管理系统”升级为“数据智能平台”：用统计看全局，用 AI 找答案，用 Agent 促闭环。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国际学生智能管理平台数据统计与AI智能体建设方案</dc:title>
  <dc:subject>数据驾驶舱、AI智能分析、智能预警、多语言AI助手</dc:subject>
  <dc:creator>Cursor Cloud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