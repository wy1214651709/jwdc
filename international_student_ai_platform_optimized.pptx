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  <a:ln>
                <a:noFill/>
              </a:ln>
            </c:spPr>
          </c:dPt>
          <c:dPt>
            <c:idx val="1"/>
            <c:spPr>
              <a:solidFill>
                <a:srgbClr val="06B6D4"/>
              </a:solidFill>
              <a:ln>
                <a:noFill/>
              </a:ln>
            </c:spPr>
          </c:dPt>
          <c:dPt>
            <c:idx val="2"/>
            <c:spPr>
              <a:solidFill>
                <a:srgbClr val="7C3AED"/>
              </a:solidFill>
              <a:ln>
                <a:noFill/>
              </a:ln>
            </c:spPr>
          </c:dPt>
          <c:dPt>
            <c:idx val="3"/>
            <c:spPr>
              <a:solidFill>
                <a:srgbClr val="14B8A6"/>
              </a:solidFill>
              <a:ln>
                <a:noFill/>
              </a:ln>
            </c:spPr>
          </c:dPt>
          <c:dPt>
            <c:idx val="4"/>
            <c:spPr>
              <a:solidFill>
                <a:srgbClr val="F97316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亚洲</c:v>
                </c:pt>
                <c:pt idx="1">
                  <c:v>非洲</c:v>
                </c:pt>
                <c:pt idx="2">
                  <c:v>欧洲</c:v>
                </c:pt>
                <c:pt idx="3">
                  <c:v>美洲</c:v>
                </c:pt>
                <c:pt idx="4">
                  <c:v>其他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24</c:v>
                </c:pt>
                <c:pt idx="2">
                  <c:v>18</c:v>
                </c:pt>
                <c:pt idx="3">
                  <c:v>15</c:v>
                </c:pt>
                <c:pt idx="4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ternational-student-ai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63752"/>
            <a:ext cx="5394960" cy="3596640"/>
          </a:xfrm>
          <a:prstGeom prst="rect">
            <a:avLst/>
          </a:prstGeom>
          <a:effectLst/>
        </p:spPr>
      </p:pic>
      <p:sp>
        <p:nvSpPr>
          <p:cNvPr id="6" name="Rounded Rectangle 5"/>
          <p:cNvSpPr/>
          <p:nvPr/>
        </p:nvSpPr>
        <p:spPr>
          <a:xfrm>
            <a:off x="713232" y="621792"/>
            <a:ext cx="2331720" cy="34747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新增能力优化方案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234440"/>
            <a:ext cx="54406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Microsoft YaHei"/>
              </a:defRPr>
            </a:pPr>
            <a:r>
              <a:t>国际学生智能管理平台</a:t>
            </a:r>
          </a:p>
          <a:p>
            <a:pPr>
              <a:defRPr sz="2300" b="1">
                <a:solidFill>
                  <a:srgbClr val="BFDBFE"/>
                </a:solidFill>
                <a:latin typeface="Microsoft YaHei"/>
              </a:defRPr>
            </a:pPr>
            <a:r>
              <a:t>数据统计驾驶舱与 AI 智能体建设方案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16352"/>
            <a:ext cx="48006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>
                <a:solidFill>
                  <a:srgbClr val="E2E8F0"/>
                </a:solidFill>
                <a:latin typeface="Microsoft YaHei"/>
              </a:defRPr>
            </a:pPr>
            <a:r>
              <a:t>面向招生、审核、住宿、费用、教务、保险、多语言服务的一体化数据分析与智能运营升级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3703320"/>
            <a:ext cx="1078992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数据驾驶舱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5688" y="3703320"/>
            <a:ext cx="1078992" cy="38404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智能分析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3703320"/>
            <a:ext cx="1078992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风险预警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7448" y="3703320"/>
            <a:ext cx="1078992" cy="384048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多语言助手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6172200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Microsoft YaHei"/>
              </a:defRPr>
            </a:pPr>
            <a:r>
              <a:t>建设方向：统一数据资产｜可视化统计｜AI 问数｜Agent 闭环处置｜四语种服务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从现状痛点到能力设计、系统架构与实施落地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150876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661830"/>
            <a:ext cx="566928" cy="1984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49047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D1B3D"/>
                </a:solidFill>
                <a:latin typeface="Microsoft YaHei"/>
              </a:defRPr>
            </a:pPr>
            <a:r>
              <a:t>建设背景与目标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73352" y="1892808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Microsoft YaHei"/>
              </a:defRPr>
            </a:pPr>
            <a:r>
              <a:t>明确现有系统升级方向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53288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685958"/>
            <a:ext cx="566928" cy="1984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25146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D1B3D"/>
                </a:solidFill>
                <a:latin typeface="Microsoft YaHei"/>
              </a:defRPr>
            </a:pPr>
            <a:r>
              <a:t>数据统计驾驶舱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3352" y="2916936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Microsoft YaHei"/>
              </a:defRPr>
            </a:pPr>
            <a:r>
              <a:t>构建统一指标与可视化大屏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557016"/>
            <a:ext cx="566928" cy="566928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710086"/>
            <a:ext cx="566928" cy="1984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53872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D1B3D"/>
                </a:solidFill>
                <a:latin typeface="Microsoft YaHei"/>
              </a:defRPr>
            </a:pPr>
            <a:r>
              <a:t>AI 智能分析与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3352" y="3941064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Microsoft YaHei"/>
              </a:defRPr>
            </a:pPr>
            <a:r>
              <a:t>从自然语言问数到自动化处置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" y="4581144"/>
            <a:ext cx="566928" cy="566928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734214"/>
            <a:ext cx="566928" cy="1984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4208" y="4562856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D1B3D"/>
                </a:solidFill>
                <a:latin typeface="Microsoft YaHei"/>
              </a:defRPr>
            </a:pPr>
            <a:r>
              <a:t>安全治理与实施路径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73352" y="4965192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Microsoft YaHei"/>
              </a:defRPr>
            </a:pPr>
            <a:r>
              <a:t>确保权限、审计和可落地交付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417320"/>
            <a:ext cx="45262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417320"/>
            <a:ext cx="4526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1618488"/>
            <a:ext cx="4069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一屏掌握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075688"/>
            <a:ext cx="4050792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招生、在校、费用、住宿、教务、保险核心指标集中呈现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2715768"/>
            <a:ext cx="45262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2715768"/>
            <a:ext cx="452628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56832" y="2916936"/>
            <a:ext cx="4069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一问即得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6832" y="3374136"/>
            <a:ext cx="4050792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领导/教师通过自然语言查询数据并生成图表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014215"/>
            <a:ext cx="45262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4014215"/>
            <a:ext cx="452628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56832" y="4215383"/>
            <a:ext cx="4069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一键闭环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6832" y="4672583"/>
            <a:ext cx="4050792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风险识别、通知、工单、跟进和复盘形成闭环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一、建设背景：从业务系统走向智能运营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现有系统已覆盖核心业务，下一步需要把数据转化为管理洞察与服务能力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08760"/>
            <a:ext cx="2423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508760"/>
            <a:ext cx="242316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709928"/>
            <a:ext cx="1965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业务覆盖完整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075688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Aptos Display"/>
              </a:defRPr>
            </a:pPr>
            <a:r>
              <a:t>6+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532888"/>
            <a:ext cx="1947672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招生、审核、住宿、费用、教务、保险等核心模块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1508760"/>
            <a:ext cx="2423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1508760"/>
            <a:ext cx="242316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0752" y="1709928"/>
            <a:ext cx="1965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服务对象多元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0752" y="2075688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B8A6"/>
                </a:solidFill>
                <a:latin typeface="Aptos Display"/>
              </a:defRPr>
            </a:pPr>
            <a:r>
              <a:t>3类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0752" y="2532888"/>
            <a:ext cx="1947672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领导、教师/管理人员、国际学生协同使用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508760"/>
            <a:ext cx="2423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508760"/>
            <a:ext cx="242316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1709928"/>
            <a:ext cx="1965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语言基础具备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075688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7C3AED"/>
                </a:solidFill>
                <a:latin typeface="Aptos Display"/>
              </a:defRPr>
            </a:pPr>
            <a:r>
              <a:t>4语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532888"/>
            <a:ext cx="1947672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中文、英文、日文、韩文学生端服务能力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59" y="1508760"/>
            <a:ext cx="2423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59" y="1508760"/>
            <a:ext cx="24231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1" y="1709928"/>
            <a:ext cx="1965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升级重点明确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1" y="2075688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97316"/>
                </a:solidFill>
                <a:latin typeface="Aptos Display"/>
              </a:defRPr>
            </a:pPr>
            <a:r>
              <a:t>AI+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532888"/>
            <a:ext cx="1947672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数据统计、智能分析、预警处置、智能助手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3310128"/>
            <a:ext cx="1051560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升级逻辑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730752"/>
            <a:ext cx="1998878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3867912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913632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7008" y="3858768"/>
            <a:ext cx="139537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沉淀数据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" y="4187952"/>
            <a:ext cx="170627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统一采集业务系统关键数据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2666390" y="4069080"/>
            <a:ext cx="256032" cy="219456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876702" y="3730752"/>
            <a:ext cx="1998878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86430" y="3867912"/>
            <a:ext cx="310896" cy="310896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86430" y="3913632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0478" y="3858768"/>
            <a:ext cx="139537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形成指标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23006" y="4187952"/>
            <a:ext cx="170627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按管理主题构建统计口径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4829860" y="4069080"/>
            <a:ext cx="256032" cy="219456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40172" y="3730752"/>
            <a:ext cx="1998878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149900" y="386791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49900" y="3913632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33948" y="3858768"/>
            <a:ext cx="139537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可视分析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6476" y="4187952"/>
            <a:ext cx="170627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驾驶舱、大屏、报表多端呈现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6993331" y="4069080"/>
            <a:ext cx="256032" cy="219456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203643" y="3730752"/>
            <a:ext cx="1998878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13371" y="3867912"/>
            <a:ext cx="310896" cy="310896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3371" y="3913632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97419" y="3858768"/>
            <a:ext cx="139537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智能决策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87952"/>
            <a:ext cx="170627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AI 问数、预测、预警、建议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9156801" y="4069080"/>
            <a:ext cx="256032" cy="219456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367113" y="3730752"/>
            <a:ext cx="1998878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476841" y="3867912"/>
            <a:ext cx="310896" cy="310896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76841" y="3913632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60889" y="3858768"/>
            <a:ext cx="139537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闭环服务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13417" y="4187952"/>
            <a:ext cx="170627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Agent 推动通知与跟进处置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当前系统能力基础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以既有业务模块为数据来源，新增统计分析层和智能服务层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0" name="Oval 9"/>
          <p:cNvSpPr/>
          <p:nvPr/>
        </p:nvSpPr>
        <p:spPr>
          <a:xfrm>
            <a:off x="4901184" y="2103120"/>
            <a:ext cx="2377440" cy="1828800"/>
          </a:xfrm>
          <a:prstGeom prst="ellipse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6360" y="2542032"/>
            <a:ext cx="1847088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国际学生</a:t>
            </a:r>
            <a:br/>
            <a:r>
              <a:t>管理系统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1417320"/>
            <a:ext cx="1572768" cy="62179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1B3D"/>
                </a:solidFill>
                <a:latin typeface="Microsoft YaHei"/>
              </a:defRPr>
            </a:pPr>
            <a:r>
              <a:t>招生管理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46504" y="1728216"/>
            <a:ext cx="4343400" cy="1289304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26080" y="841248"/>
            <a:ext cx="1572768" cy="62179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1B3D"/>
                </a:solidFill>
                <a:latin typeface="Microsoft YaHei"/>
              </a:defRPr>
            </a:pPr>
            <a:r>
              <a:t>招生审核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12464" y="1152144"/>
            <a:ext cx="2377440" cy="1865376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83879" y="841248"/>
            <a:ext cx="1572768" cy="62179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1B3D"/>
                </a:solidFill>
                <a:latin typeface="Microsoft YaHei"/>
              </a:defRPr>
            </a:pPr>
            <a:r>
              <a:t>住宿安排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6089904" y="1152144"/>
            <a:ext cx="2880359" cy="1865376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58400" y="1417320"/>
            <a:ext cx="1572768" cy="62179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1B3D"/>
                </a:solidFill>
                <a:latin typeface="Microsoft YaHei"/>
              </a:defRPr>
            </a:pPr>
            <a:r>
              <a:t>费用管理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6089904" y="1728216"/>
            <a:ext cx="4754880" cy="1289304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920240" y="4434840"/>
            <a:ext cx="1572768" cy="62179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1B3D"/>
                </a:solidFill>
                <a:latin typeface="Microsoft YaHei"/>
              </a:defRPr>
            </a:pPr>
            <a:r>
              <a:t>教务管理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706624" y="3017520"/>
            <a:ext cx="3383280" cy="1728216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006840" y="4434840"/>
            <a:ext cx="1572768" cy="62179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1B3D"/>
                </a:solidFill>
                <a:latin typeface="Microsoft YaHei"/>
              </a:defRPr>
            </a:pPr>
            <a:r>
              <a:t>保险管理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6089904" y="3017520"/>
            <a:ext cx="3703320" cy="1728216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72000" y="4983480"/>
            <a:ext cx="1572768" cy="62179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1B3D"/>
                </a:solidFill>
                <a:latin typeface="Microsoft YaHei"/>
              </a:defRPr>
            </a:pPr>
            <a:r>
              <a:t>四语种学生端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5358384" y="3017520"/>
            <a:ext cx="731520" cy="2276856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069080" y="685800"/>
            <a:ext cx="404164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新增：统计分析驾驶舱 + AI 智能体 + 风险预警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当前痛点与升级切入点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问题不在于没有业务数据，而在于数据未被统一组织、分析和闭环利用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463040"/>
            <a:ext cx="3794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463040"/>
            <a:ext cx="37947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6420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数据分散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121408"/>
            <a:ext cx="331927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模块间数据口径不统一，跨部门统计耗时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736592" y="1682496"/>
            <a:ext cx="777240" cy="237744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42432" y="1463040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42432" y="1463040"/>
            <a:ext cx="484632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464" y="1664208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统一指标体系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2121408"/>
            <a:ext cx="437083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建立招生、财务、教务等主题数据集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2423160"/>
            <a:ext cx="3794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8" y="2423160"/>
            <a:ext cx="37947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62432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人工报表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081528"/>
            <a:ext cx="331927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月报/年报依赖手工汇总，难以实时追踪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736592" y="2642616"/>
            <a:ext cx="777240" cy="237744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42432" y="2423160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42432" y="2423160"/>
            <a:ext cx="484632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98464" y="2624328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可视化驾驶舱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3081528"/>
            <a:ext cx="437083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实时大屏、专题报表、自助分析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3383280"/>
            <a:ext cx="3794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8" y="3383280"/>
            <a:ext cx="37947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58444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缺少预警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041648"/>
            <a:ext cx="331927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欠费、签证、学业、住宿风险发现滞后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736592" y="3602736"/>
            <a:ext cx="777240" cy="237744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42432" y="3383280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42432" y="3383280"/>
            <a:ext cx="484632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98464" y="3584448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智能预警模型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98464" y="4041648"/>
            <a:ext cx="437083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规则+AI 识别风险并推动处置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8" y="4343400"/>
            <a:ext cx="3794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9808" y="4343400"/>
            <a:ext cx="37947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45445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服务压力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001768"/>
            <a:ext cx="331927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学生咨询重复，跨语言沟通成本较高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4736592" y="4562856"/>
            <a:ext cx="777240" cy="237744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742432" y="4343400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42432" y="4343400"/>
            <a:ext cx="484632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98464" y="4544568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多语言 AI 助手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98464" y="5001768"/>
            <a:ext cx="437083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四语种问答、业务指引、数据查询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建设目标：四类能力一体化升级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让管理者看得见、问得出、预判准、办得快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17320"/>
            <a:ext cx="248716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417320"/>
            <a:ext cx="2487168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618488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数据驾驶舱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984248"/>
            <a:ext cx="1975104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Aptos Display"/>
              </a:defRPr>
            </a:pPr>
            <a:r>
              <a:t>看得见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441448"/>
            <a:ext cx="2011680" cy="2971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招生趋势、国家分布、在校规模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缴费率、欠费、住宿、保险状态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支持大屏、专题报表、移动端概览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2152" y="1417320"/>
            <a:ext cx="248716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2152" y="1417320"/>
            <a:ext cx="2487168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1618488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AI 智能分析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8184" y="1984248"/>
            <a:ext cx="1975104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7C3AED"/>
                </a:solidFill>
                <a:latin typeface="Aptos Display"/>
              </a:defRPr>
            </a:pPr>
            <a:r>
              <a:t>问得出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4" y="2441448"/>
            <a:ext cx="2011680" cy="2971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自然语言问数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自动生成图表和分析结论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辅助领导决策和部门汇报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417320"/>
            <a:ext cx="248716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1417320"/>
            <a:ext cx="2487168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74536" y="1618488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智能风险预警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4536" y="1984248"/>
            <a:ext cx="1975104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97316"/>
                </a:solidFill>
                <a:latin typeface="Aptos Display"/>
              </a:defRPr>
            </a:pPr>
            <a:r>
              <a:t>预判准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4536" y="2441448"/>
            <a:ext cx="2011680" cy="2971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欠费、签证到期、学业异常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住宿异常、保险缺失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分级预警和责任人推送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6" y="1417320"/>
            <a:ext cx="248716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34856" y="1417320"/>
            <a:ext cx="2487168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90888" y="1618488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多语言 AI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0888" y="1984248"/>
            <a:ext cx="1975104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B8A6"/>
                </a:solidFill>
                <a:latin typeface="Aptos Display"/>
              </a:defRPr>
            </a:pPr>
            <a:r>
              <a:t>办得快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0888" y="2441448"/>
            <a:ext cx="2011680" cy="2971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中英日韩四语种咨询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自动指引流程和材料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触发工单、通知与跟进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总体建设架构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在现有业务系统之上叠加数据统计、智能分析和智能体应用层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325880"/>
            <a:ext cx="106984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1472184"/>
            <a:ext cx="13258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用户层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41448" y="149047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领导驾驶舱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149047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招生教师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96712" y="149047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财务人员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344" y="149047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辅导员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49047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国际学生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9608" y="149047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系统管理员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148840"/>
            <a:ext cx="106984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2295144"/>
            <a:ext cx="1325880" cy="3657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应用层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41448" y="2313432"/>
            <a:ext cx="1536192" cy="329184"/>
          </a:xfrm>
          <a:prstGeom prst="roundRect">
            <a:avLst/>
          </a:prstGeom>
          <a:solidFill>
            <a:srgbClr val="F5F3FF"/>
          </a:solidFill>
          <a:ln w="889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数据大屏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9080" y="2313432"/>
            <a:ext cx="1536192" cy="329184"/>
          </a:xfrm>
          <a:prstGeom prst="roundRect">
            <a:avLst/>
          </a:prstGeom>
          <a:solidFill>
            <a:srgbClr val="F5F3FF"/>
          </a:solidFill>
          <a:ln w="889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专题报表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96712" y="2313432"/>
            <a:ext cx="1536192" cy="329184"/>
          </a:xfrm>
          <a:prstGeom prst="roundRect">
            <a:avLst/>
          </a:prstGeom>
          <a:solidFill>
            <a:srgbClr val="F5F3FF"/>
          </a:solidFill>
          <a:ln w="889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AI 问数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313432"/>
            <a:ext cx="1536192" cy="329184"/>
          </a:xfrm>
          <a:prstGeom prst="roundRect">
            <a:avLst/>
          </a:prstGeom>
          <a:solidFill>
            <a:srgbClr val="F5F3FF"/>
          </a:solidFill>
          <a:ln w="889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智能预警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51976" y="2313432"/>
            <a:ext cx="1536192" cy="329184"/>
          </a:xfrm>
          <a:prstGeom prst="roundRect">
            <a:avLst/>
          </a:prstGeom>
          <a:solidFill>
            <a:srgbClr val="F5F3FF"/>
          </a:solidFill>
          <a:ln w="889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AI 助手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79608" y="2313432"/>
            <a:ext cx="1536192" cy="329184"/>
          </a:xfrm>
          <a:prstGeom prst="roundRect">
            <a:avLst/>
          </a:prstGeom>
          <a:solidFill>
            <a:srgbClr val="F5F3FF"/>
          </a:solidFill>
          <a:ln w="889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Agent 工单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2971800"/>
            <a:ext cx="106984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3118104"/>
            <a:ext cx="132588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分析层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41448" y="313639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指标体系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9080" y="313639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多维分析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96712" y="313639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预测模型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24344" y="313639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画像标签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313639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知识库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579608" y="313639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权限策略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3794760"/>
            <a:ext cx="106984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4400" y="3941064"/>
            <a:ext cx="1325880" cy="36576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业务层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41448" y="395935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招生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69080" y="395935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审核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96712" y="395935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住宿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24344" y="395935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费用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1976" y="395935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教务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79608" y="395935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保险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9808" y="4617720"/>
            <a:ext cx="106984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14400" y="4764024"/>
            <a:ext cx="1325880" cy="3657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数据层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441448" y="478231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MySQL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069080" y="478231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PostgreSQL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96712" y="478231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Redis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24344" y="478231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日志数据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51976" y="478231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文件资料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579608" y="4782312"/>
            <a:ext cx="1536192" cy="329184"/>
          </a:xfrm>
          <a:prstGeom prst="roundRect">
            <a:avLst/>
          </a:prstGeom>
          <a:solidFill>
            <a:srgbClr val="EFF6FF"/>
          </a:solidFill>
          <a:ln w="889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>
                <a:solidFill>
                  <a:srgbClr val="0D1B3D"/>
                </a:solidFill>
                <a:latin typeface="Microsoft YaHei"/>
              </a:defRPr>
            </a:pPr>
            <a:r>
              <a:t>外部接口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0120" y="5596128"/>
            <a:ext cx="2379726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69848" y="5733288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9848" y="5779008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53896" y="5724144"/>
            <a:ext cx="177622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采集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6424" y="6053328"/>
            <a:ext cx="208711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业务数据同步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3294126" y="5934456"/>
            <a:ext cx="256032" cy="219456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504438" y="5596128"/>
            <a:ext cx="2379726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614166" y="5733288"/>
            <a:ext cx="310896" cy="310896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14166" y="5779008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98214" y="5724144"/>
            <a:ext cx="177622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治理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0742" y="6053328"/>
            <a:ext cx="208711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口径与权限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5838444" y="5934456"/>
            <a:ext cx="256032" cy="219456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048756" y="5596128"/>
            <a:ext cx="2379726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158484" y="5733288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4" y="5779008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42532" y="5724144"/>
            <a:ext cx="177622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分析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95060" y="6053328"/>
            <a:ext cx="208711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统计/模型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8382762" y="5934456"/>
            <a:ext cx="256032" cy="219456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593074" y="5596128"/>
            <a:ext cx="2379726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702802" y="5733288"/>
            <a:ext cx="310896" cy="310896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02802" y="5779008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86850" y="5724144"/>
            <a:ext cx="177622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服务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39378" y="6053328"/>
            <a:ext cx="208711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大屏/Agent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数据统计驾驶舱：一屏掌握国际学生运营态势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建议作为新增一级功能入口，支持领导视图、部门视图和专题视图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325880"/>
            <a:ext cx="6537960" cy="4526280"/>
          </a:xfrm>
          <a:prstGeom prst="round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627632"/>
            <a:ext cx="1325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737360"/>
            <a:ext cx="1033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Aptos Display"/>
              </a:defRPr>
            </a:pPr>
            <a:r>
              <a:t>2,486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057400"/>
            <a:ext cx="10332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在校学生  +8.2%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1627632"/>
            <a:ext cx="1325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9464" y="1737360"/>
            <a:ext cx="1033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Aptos Display"/>
              </a:defRPr>
            </a:pPr>
            <a:r>
              <a:t>1,268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9464" y="2057400"/>
            <a:ext cx="10332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报名人数  +12%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13632" y="1627632"/>
            <a:ext cx="1325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59936" y="1737360"/>
            <a:ext cx="1033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C55E"/>
                </a:solidFill>
                <a:latin typeface="Aptos Display"/>
              </a:defRPr>
            </a:pPr>
            <a:r>
              <a:t>91.6%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59936" y="2057400"/>
            <a:ext cx="10332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缴费率  +3.4%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04104" y="1627632"/>
            <a:ext cx="1325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0408" y="1737360"/>
            <a:ext cx="1033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97316"/>
                </a:solidFill>
                <a:latin typeface="Aptos Display"/>
              </a:defRPr>
            </a:pPr>
            <a:r>
              <a:t>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0408" y="2057400"/>
            <a:ext cx="10332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风险预警  待处理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" y="2606040"/>
            <a:ext cx="278892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1170432" y="3840480"/>
            <a:ext cx="429768" cy="411480"/>
          </a:xfrm>
          <a:prstGeom prst="line">
            <a:avLst/>
          </a:prstGeom>
          <a:ln w="27940">
            <a:solidFill>
              <a:srgbClr val="06B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600200" y="3840480"/>
            <a:ext cx="411480" cy="164592"/>
          </a:xfrm>
          <a:prstGeom prst="line">
            <a:avLst/>
          </a:prstGeom>
          <a:ln w="27940">
            <a:solidFill>
              <a:srgbClr val="06B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011680" y="3429000"/>
            <a:ext cx="411480" cy="576072"/>
          </a:xfrm>
          <a:prstGeom prst="line">
            <a:avLst/>
          </a:prstGeom>
          <a:ln w="27940">
            <a:solidFill>
              <a:srgbClr val="06B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423160" y="3429000"/>
            <a:ext cx="429768" cy="137160"/>
          </a:xfrm>
          <a:prstGeom prst="line">
            <a:avLst/>
          </a:prstGeom>
          <a:ln w="27940">
            <a:solidFill>
              <a:srgbClr val="06B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852928" y="2971800"/>
            <a:ext cx="393192" cy="594360"/>
          </a:xfrm>
          <a:prstGeom prst="line">
            <a:avLst/>
          </a:prstGeom>
          <a:ln w="27940">
            <a:solidFill>
              <a:srgbClr val="06B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133856" y="4215384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63624" y="3803904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75104" y="3968496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386584" y="3392424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16352" y="3529584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09544" y="2935224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27889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招生趋势分析</a:t>
            </a:r>
          </a:p>
        </p:txBody>
      </p:sp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4407408" y="2688336"/>
          <a:ext cx="1792224" cy="17922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224528" y="4892040"/>
            <a:ext cx="2148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Microsoft YaHei"/>
              </a:defRPr>
            </a:pPr>
            <a:r>
              <a:t>国家/地区来源分布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71231" y="1417320"/>
            <a:ext cx="37947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71231" y="1417320"/>
            <a:ext cx="379476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27263" y="161848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招生驾驶舱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27263" y="2075688"/>
            <a:ext cx="3319272" cy="-3657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报名趋势、转化率、国家来源、审核效率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71231" y="2441448"/>
            <a:ext cx="37947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571231" y="2441448"/>
            <a:ext cx="37947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27263" y="2642616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学生画像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27263" y="3099816"/>
            <a:ext cx="3319272" cy="-3657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年级、专业、国籍、签证、学籍状态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71231" y="3465576"/>
            <a:ext cx="37947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571231" y="3465576"/>
            <a:ext cx="37947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27263" y="3666744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费用分析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27263" y="4123944"/>
            <a:ext cx="3319272" cy="-3657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应缴/已缴/欠费、缴费率、欠费排行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71231" y="4489704"/>
            <a:ext cx="37947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571231" y="4489704"/>
            <a:ext cx="37947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27263" y="4690872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风险监控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27263" y="5148072"/>
            <a:ext cx="3319272" cy="-3657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签证、学业、住宿、保险、费用预警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统计指标体系设计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建议先统一“指标口径”，再建设驾驶舱和 AI 问数能力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20116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20116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6184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招生统计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075688"/>
            <a:ext cx="1536192" cy="3611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报名人数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审核通过率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录取转化率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国家来源 TOPN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7208" y="1417320"/>
            <a:ext cx="20116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07208" y="1417320"/>
            <a:ext cx="201168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40" y="16184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学生统计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075688"/>
            <a:ext cx="1536192" cy="3611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在校/离校/休学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专业/年级分布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签证有效期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学生画像标签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11496" y="1417320"/>
            <a:ext cx="20116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11496" y="1417320"/>
            <a:ext cx="20116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16184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费用统计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2075688"/>
            <a:ext cx="1536192" cy="3611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应收/实收/欠费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缴费率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奖学金统计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欠费风险等级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15784" y="1417320"/>
            <a:ext cx="20116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15784" y="1417320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1816" y="16184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教务统计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71816" y="2075688"/>
            <a:ext cx="1536192" cy="3611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课程成绩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考勤异常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学业预警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毕业进度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20072" y="1417320"/>
            <a:ext cx="20116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20072" y="1417320"/>
            <a:ext cx="201168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76104" y="16184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住宿/保险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104" y="2075688"/>
            <a:ext cx="1536192" cy="3611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床位入住率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住宿异常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保险有效期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理赔/缺失统计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925312"/>
            <a:ext cx="10744200" cy="3840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0D1B3D"/>
                </a:solidFill>
                <a:latin typeface="Microsoft YaHei"/>
              </a:defRPr>
            </a:pPr>
            <a:r>
              <a:t>关键原则：同一指标只有一个口径，同一角色只看授权范围，同一预警必须有责任人与处置状态。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招生数据中心：从报名到录取的转化分析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支持招生团队快速识别重点国家、渠道效果与审核瓶颈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554479"/>
            <a:ext cx="4160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1B3D"/>
                </a:solidFill>
                <a:latin typeface="Microsoft YaHei"/>
              </a:defRPr>
            </a:pPr>
            <a:r>
              <a:t>报名人数趋势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84247"/>
            <a:ext cx="586740" cy="1965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491500"/>
            <a:ext cx="586740" cy="45870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26324"/>
            <a:ext cx="5867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1E293B"/>
                </a:solidFill>
                <a:latin typeface="Aptos"/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23359"/>
            <a:ext cx="7330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">
                <a:solidFill>
                  <a:srgbClr val="64748B"/>
                </a:solidFill>
                <a:latin typeface="Microsoft YaHei"/>
              </a:defRPr>
            </a:pPr>
            <a:r>
              <a:t>1月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37716" y="1984247"/>
            <a:ext cx="586740" cy="1965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37716" y="3262147"/>
            <a:ext cx="586740" cy="688059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37716" y="2996971"/>
            <a:ext cx="5867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1E293B"/>
                </a:solidFill>
                <a:latin typeface="Aptos"/>
              </a:defRPr>
            </a:pPr>
            <a:r>
              <a:t>180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4564" y="4023359"/>
            <a:ext cx="7330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">
                <a:solidFill>
                  <a:srgbClr val="64748B"/>
                </a:solidFill>
                <a:latin typeface="Microsoft YaHei"/>
              </a:defRPr>
            </a:pPr>
            <a:r>
              <a:t>2月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52472" y="1984247"/>
            <a:ext cx="586740" cy="1965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52472" y="2956343"/>
            <a:ext cx="586740" cy="993863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52472" y="2691167"/>
            <a:ext cx="5867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1E293B"/>
                </a:solidFill>
                <a:latin typeface="Aptos"/>
              </a:defRPr>
            </a:pPr>
            <a:r>
              <a:t>260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9320" y="4023359"/>
            <a:ext cx="7330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">
                <a:solidFill>
                  <a:srgbClr val="64748B"/>
                </a:solidFill>
                <a:latin typeface="Microsoft YaHei"/>
              </a:defRPr>
            </a:pPr>
            <a:r>
              <a:t>3月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7228" y="1984247"/>
            <a:ext cx="586740" cy="1965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67228" y="2574088"/>
            <a:ext cx="586740" cy="137611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67228" y="2308912"/>
            <a:ext cx="5867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1E293B"/>
                </a:solidFill>
                <a:latin typeface="Aptos"/>
              </a:defRPr>
            </a:pPr>
            <a:r>
              <a:t>360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4076" y="4023359"/>
            <a:ext cx="7330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">
                <a:solidFill>
                  <a:srgbClr val="64748B"/>
                </a:solidFill>
                <a:latin typeface="Microsoft YaHei"/>
              </a:defRPr>
            </a:pPr>
            <a:r>
              <a:t>4月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81984" y="1984247"/>
            <a:ext cx="586740" cy="1965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81984" y="2306510"/>
            <a:ext cx="586740" cy="16436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81984" y="2041334"/>
            <a:ext cx="5867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1E293B"/>
                </a:solidFill>
                <a:latin typeface="Aptos"/>
              </a:defRPr>
            </a:pPr>
            <a:r>
              <a:t>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8832" y="4023359"/>
            <a:ext cx="7330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">
                <a:solidFill>
                  <a:srgbClr val="64748B"/>
                </a:solidFill>
                <a:latin typeface="Microsoft YaHei"/>
              </a:defRPr>
            </a:pPr>
            <a:r>
              <a:t>5月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6740" y="1984247"/>
            <a:ext cx="586740" cy="1965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396740" y="2000706"/>
            <a:ext cx="586740" cy="19495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96740" y="1735530"/>
            <a:ext cx="5867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1E293B"/>
                </a:solidFill>
                <a:latin typeface="Aptos"/>
              </a:defRPr>
            </a:pPr>
            <a:r>
              <a:t>510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3588" y="4023359"/>
            <a:ext cx="7330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">
                <a:solidFill>
                  <a:srgbClr val="64748B"/>
                </a:solidFill>
                <a:latin typeface="Microsoft YaHei"/>
              </a:defRPr>
            </a:pPr>
            <a:r>
              <a:t>6月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3212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532120" y="1417320"/>
            <a:ext cx="233172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88152" y="1618488"/>
            <a:ext cx="1874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转化漏斗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88152" y="2075688"/>
            <a:ext cx="1856232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报名 100%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初审通过 76%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录取确认 52%</a:t>
            </a:r>
          </a:p>
        </p:txBody>
      </p:sp>
      <p:sp>
        <p:nvSpPr>
          <p:cNvPr id="39" name="Trapezoid 38"/>
          <p:cNvSpPr/>
          <p:nvPr/>
        </p:nvSpPr>
        <p:spPr>
          <a:xfrm>
            <a:off x="5532120" y="2697480"/>
            <a:ext cx="2560320" cy="384048"/>
          </a:xfrm>
          <a:prstGeom prst="trapezoid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报名</a:t>
            </a:r>
          </a:p>
        </p:txBody>
      </p:sp>
      <p:sp>
        <p:nvSpPr>
          <p:cNvPr id="40" name="Trapezoid 39"/>
          <p:cNvSpPr/>
          <p:nvPr/>
        </p:nvSpPr>
        <p:spPr>
          <a:xfrm>
            <a:off x="5783580" y="3209544"/>
            <a:ext cx="2057400" cy="384048"/>
          </a:xfrm>
          <a:prstGeom prst="trapezoid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审核通过</a:t>
            </a:r>
          </a:p>
        </p:txBody>
      </p:sp>
      <p:sp>
        <p:nvSpPr>
          <p:cNvPr id="41" name="Trapezoid 40"/>
          <p:cNvSpPr/>
          <p:nvPr/>
        </p:nvSpPr>
        <p:spPr>
          <a:xfrm>
            <a:off x="6057900" y="3721608"/>
            <a:ext cx="1508760" cy="384048"/>
          </a:xfrm>
          <a:prstGeom prst="trapezoid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录取确认</a:t>
            </a:r>
          </a:p>
        </p:txBody>
      </p:sp>
      <p:sp>
        <p:nvSpPr>
          <p:cNvPr id="42" name="Trapezoid 41"/>
          <p:cNvSpPr/>
          <p:nvPr/>
        </p:nvSpPr>
        <p:spPr>
          <a:xfrm>
            <a:off x="6309360" y="4233672"/>
            <a:ext cx="1005840" cy="384048"/>
          </a:xfrm>
          <a:prstGeom prst="trapezoid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报到入学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1481328"/>
            <a:ext cx="10058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E293B"/>
                </a:solidFill>
                <a:latin typeface="Microsoft YaHei"/>
              </a:defRPr>
            </a:pPr>
            <a:r>
              <a:t>韩国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1508760"/>
            <a:ext cx="1627632" cy="14630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464040" y="1508760"/>
            <a:ext cx="1519123" cy="14630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19104" y="1472184"/>
            <a:ext cx="320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Aptos"/>
              </a:defRPr>
            </a:pPr>
            <a:r>
              <a:t>28%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2048256"/>
            <a:ext cx="10058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E293B"/>
                </a:solidFill>
                <a:latin typeface="Microsoft YaHei"/>
              </a:defRPr>
            </a:pPr>
            <a:r>
              <a:t>日本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4040" y="2075688"/>
            <a:ext cx="1627632" cy="14630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464040" y="2075688"/>
            <a:ext cx="1139342" cy="14630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119104" y="2039112"/>
            <a:ext cx="320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Aptos"/>
              </a:defRPr>
            </a:pPr>
            <a:r>
              <a:t>21%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2615184"/>
            <a:ext cx="10058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E293B"/>
                </a:solidFill>
                <a:latin typeface="Microsoft YaHei"/>
              </a:defRPr>
            </a:pPr>
            <a:r>
              <a:t>泰国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64040" y="2642616"/>
            <a:ext cx="1627632" cy="14630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464040" y="2642616"/>
            <a:ext cx="922324" cy="146304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119104" y="2606040"/>
            <a:ext cx="320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Aptos"/>
              </a:defRPr>
            </a:pPr>
            <a:r>
              <a:t>17%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9640" y="3182112"/>
            <a:ext cx="10058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E293B"/>
                </a:solidFill>
                <a:latin typeface="Microsoft YaHei"/>
              </a:defRPr>
            </a:pPr>
            <a:r>
              <a:t>俄罗斯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464040" y="3209544"/>
            <a:ext cx="1627632" cy="14630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464040" y="3209544"/>
            <a:ext cx="651052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119104" y="3172968"/>
            <a:ext cx="320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Aptos"/>
              </a:defRPr>
            </a:pPr>
            <a:r>
              <a:t>12%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3749039"/>
            <a:ext cx="10058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E293B"/>
                </a:solidFill>
                <a:latin typeface="Microsoft YaHei"/>
              </a:defRPr>
            </a:pPr>
            <a:r>
              <a:t>其他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464040" y="3776471"/>
            <a:ext cx="1627632" cy="14630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464040" y="3776471"/>
            <a:ext cx="1193596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19104" y="3739895"/>
            <a:ext cx="320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Aptos"/>
              </a:defRPr>
            </a:pPr>
            <a:r>
              <a:t>22%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83879" y="4526280"/>
            <a:ext cx="3108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83879" y="4526280"/>
            <a:ext cx="31089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39911" y="4727448"/>
            <a:ext cx="2651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建议新增功能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39911" y="5184648"/>
            <a:ext cx="2633472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世界地图热力图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渠道投入产出分析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审核时效与退回原因统计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学生、费用、教务联动分析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把学生状态、缴费行为和学业表现关联起来，形成风险识别基础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417320"/>
            <a:ext cx="32461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417320"/>
            <a:ext cx="324612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1618488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学生画像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" y="2011680"/>
            <a:ext cx="2697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121408"/>
            <a:ext cx="2404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Aptos Display"/>
              </a:defRPr>
            </a:pPr>
            <a:r>
              <a:t>2,486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441448"/>
            <a:ext cx="2404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在校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" y="2971800"/>
            <a:ext cx="2697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081528"/>
            <a:ext cx="2404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Aptos Display"/>
              </a:defRPr>
            </a:pPr>
            <a:r>
              <a:t>126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401568"/>
            <a:ext cx="2404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签证临期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" y="3931920"/>
            <a:ext cx="2697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041648"/>
            <a:ext cx="2404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Aptos Display"/>
              </a:defRPr>
            </a:pPr>
            <a:r>
              <a:t>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361688"/>
            <a:ext cx="2404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重点关注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" y="4965192"/>
            <a:ext cx="269748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1E293B"/>
                </a:solidFill>
                <a:latin typeface="Microsoft YaHei"/>
              </a:defRPr>
            </a:pPr>
            <a:r>
              <a:t>按国籍/专业/年级钻取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07992" y="1417320"/>
            <a:ext cx="32461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07992" y="1417320"/>
            <a:ext cx="324612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4024" y="1618488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费用管理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64024" y="2011680"/>
            <a:ext cx="2697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0328" y="2121408"/>
            <a:ext cx="2404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97316"/>
                </a:solidFill>
                <a:latin typeface="Aptos Display"/>
              </a:defRPr>
            </a:pPr>
            <a:r>
              <a:t>91.6%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0328" y="2441448"/>
            <a:ext cx="2404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缴费率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64024" y="2971800"/>
            <a:ext cx="2697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0328" y="3081528"/>
            <a:ext cx="2404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97316"/>
                </a:solidFill>
                <a:latin typeface="Aptos Display"/>
              </a:defRPr>
            </a:pPr>
            <a:r>
              <a:t>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0328" y="3401568"/>
            <a:ext cx="2404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欠费人数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4024" y="3931920"/>
            <a:ext cx="2697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10328" y="4041648"/>
            <a:ext cx="2404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97316"/>
                </a:solidFill>
                <a:latin typeface="Aptos Display"/>
              </a:defRPr>
            </a:pPr>
            <a:r>
              <a:t>37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4361688"/>
            <a:ext cx="2404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高风险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64024" y="4965192"/>
            <a:ext cx="269748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1E293B"/>
                </a:solidFill>
                <a:latin typeface="Microsoft YaHei"/>
              </a:defRPr>
            </a:pPr>
            <a:r>
              <a:t>自动生成欠费名单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02752" y="1417320"/>
            <a:ext cx="32461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02752" y="1417320"/>
            <a:ext cx="324612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58784" y="1618488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教务分析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58784" y="2011680"/>
            <a:ext cx="2697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05088" y="2121408"/>
            <a:ext cx="2404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7C3AED"/>
                </a:solidFill>
                <a:latin typeface="Aptos Display"/>
              </a:defRPr>
            </a:pPr>
            <a:r>
              <a:t>49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05088" y="2441448"/>
            <a:ext cx="2404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低绩点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58784" y="2971800"/>
            <a:ext cx="2697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05088" y="3081528"/>
            <a:ext cx="2404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7C3AED"/>
                </a:solidFill>
                <a:latin typeface="Aptos Display"/>
              </a:defRPr>
            </a:pPr>
            <a:r>
              <a:t>83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05088" y="3401568"/>
            <a:ext cx="2404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缺勤异常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58784" y="3931920"/>
            <a:ext cx="2697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05088" y="4041648"/>
            <a:ext cx="2404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7C3AED"/>
                </a:solidFill>
                <a:latin typeface="Aptos Display"/>
              </a:defRPr>
            </a:pPr>
            <a:r>
              <a:t>21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05088" y="4361688"/>
            <a:ext cx="2404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40">
                <a:solidFill>
                  <a:srgbClr val="64748B"/>
                </a:solidFill>
                <a:latin typeface="Microsoft YaHei"/>
              </a:defRPr>
            </a:pPr>
            <a:r>
              <a:t>毕业预警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58784" y="4965192"/>
            <a:ext cx="269748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1E293B"/>
                </a:solidFill>
                <a:latin typeface="Microsoft YaHei"/>
              </a:defRPr>
            </a:pPr>
            <a:r>
              <a:t>学业风险分级预警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AI 智能分析：把“查报表”升级为“对话问数”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管理者可用自然语言提出问题，系统自动完成取数、分析、图表和结论输出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371600"/>
            <a:ext cx="50292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54480" y="1691640"/>
            <a:ext cx="3886200" cy="47548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>
                <a:solidFill>
                  <a:srgbClr val="1E293B"/>
                </a:solidFill>
                <a:latin typeface="Microsoft YaHei"/>
              </a:defRPr>
            </a:pPr>
            <a:r>
              <a:t>今年招生人数同比增长多少？哪些国家贡献最大？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532888"/>
            <a:ext cx="3886200" cy="475488"/>
          </a:xfrm>
          <a:prstGeom prst="roundRect">
            <a:avLst/>
          </a:prstGeom>
          <a:solidFill>
            <a:srgbClr val="F0FDFA"/>
          </a:solidFill>
          <a:ln w="1016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>
                <a:solidFill>
                  <a:srgbClr val="1E293B"/>
                </a:solidFill>
                <a:latin typeface="Microsoft YaHei"/>
              </a:defRPr>
            </a:pPr>
            <a:r>
              <a:t>同比增长 12.4%。韩国、日本、泰国贡献 66% 的新增报名。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3374136"/>
            <a:ext cx="3886200" cy="47548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>
                <a:solidFill>
                  <a:srgbClr val="1E293B"/>
                </a:solidFill>
                <a:latin typeface="Microsoft YaHei"/>
              </a:defRPr>
            </a:pPr>
            <a:r>
              <a:t>请生成招生分析图，并列出需要重点跟进的渠道。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4215384"/>
            <a:ext cx="3886200" cy="475488"/>
          </a:xfrm>
          <a:prstGeom prst="roundRect">
            <a:avLst/>
          </a:prstGeom>
          <a:solidFill>
            <a:srgbClr val="F0FDFA"/>
          </a:solidFill>
          <a:ln w="1016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>
                <a:solidFill>
                  <a:srgbClr val="1E293B"/>
                </a:solidFill>
                <a:latin typeface="Microsoft YaHei"/>
              </a:defRPr>
            </a:pPr>
            <a:r>
              <a:t>已生成趋势图、国家分布图，并标记 3 个转化率偏低渠道。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1600200"/>
            <a:ext cx="919886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90488" y="1737360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0488" y="178308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4536" y="1728216"/>
            <a:ext cx="31638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语义理解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2057400"/>
            <a:ext cx="62727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识别指标、维度、时间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54926" y="1938528"/>
            <a:ext cx="256032" cy="219456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65238" y="1600200"/>
            <a:ext cx="919886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74966" y="17373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74966" y="178308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9014" y="1728216"/>
            <a:ext cx="31638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权限校验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1542" y="2057400"/>
            <a:ext cx="62727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判断可访问数据范围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039404" y="1938528"/>
            <a:ext cx="256032" cy="219456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49716" y="1600200"/>
            <a:ext cx="919886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59444" y="1737360"/>
            <a:ext cx="310896" cy="310896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9444" y="178308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43492" y="1728216"/>
            <a:ext cx="31638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SQL/接口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6020" y="2057400"/>
            <a:ext cx="62727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安全查询统计结果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123883" y="1938528"/>
            <a:ext cx="256032" cy="219456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334195" y="1600200"/>
            <a:ext cx="919886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43923" y="1737360"/>
            <a:ext cx="310896" cy="310896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43923" y="178308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7971" y="1728216"/>
            <a:ext cx="31638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图表生成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80499" y="2057400"/>
            <a:ext cx="62727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自动选择可视化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10208361" y="1938528"/>
            <a:ext cx="256032" cy="219456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418673" y="1600200"/>
            <a:ext cx="919886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528401" y="1737360"/>
            <a:ext cx="310896" cy="310896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28401" y="178308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12449" y="1728216"/>
            <a:ext cx="31638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结论解释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64977" y="2057400"/>
            <a:ext cx="62727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输出摘要与建议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80760" y="3246120"/>
            <a:ext cx="52578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80760" y="3246120"/>
            <a:ext cx="52578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6792" y="3447288"/>
            <a:ext cx="4800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典型问题库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6792" y="3904488"/>
            <a:ext cx="4782312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“哪些国家学生最多？”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“未缴费学生有哪些，按风险排序。”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“哪些学生存在学业和签证双重风险？”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“本月住宿异常是否上升？”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80760" y="49834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80760" y="4983480"/>
            <a:ext cx="525780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36792" y="5184648"/>
            <a:ext cx="4800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输出形式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6792" y="5641848"/>
            <a:ext cx="4782312" cy="45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文字结论 + 图表 + 明细名单 + 可导出报表 + 后续处理建议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AI Agent 智能体：从发现问题到闭环处置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Agent 不只是回答问题，还能按授权触发通知、工单和跟进动作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72768"/>
            <a:ext cx="2035454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5528" y="1709928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755648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" y="1700784"/>
            <a:ext cx="143195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数据监测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2029968"/>
            <a:ext cx="174284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定时扫描欠费、签证、学业、住宿、保险数据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675534" y="1911096"/>
            <a:ext cx="256032" cy="219456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85846" y="1572768"/>
            <a:ext cx="2035454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95574" y="1709928"/>
            <a:ext cx="310896" cy="310896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5574" y="1755648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9622" y="1700784"/>
            <a:ext cx="143195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风险识别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32150" y="2029968"/>
            <a:ext cx="174284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规则阈值 + AI 模型识别异常与优先级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875580" y="1911096"/>
            <a:ext cx="256032" cy="219456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85892" y="1572768"/>
            <a:ext cx="2035454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195620" y="1709928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5620" y="1755648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9668" y="1700784"/>
            <a:ext cx="143195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任务分派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2196" y="2029968"/>
            <a:ext cx="174284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推送给辅导员、财务、宿管、教务责任人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075627" y="1911096"/>
            <a:ext cx="256032" cy="219456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285939" y="1572768"/>
            <a:ext cx="2035454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95667" y="1709928"/>
            <a:ext cx="310896" cy="310896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95667" y="1755648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9715" y="1700784"/>
            <a:ext cx="143195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学生触达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2243" y="2029968"/>
            <a:ext cx="174284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中英日韩通知与材料补充提醒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275673" y="1911096"/>
            <a:ext cx="256032" cy="219456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485985" y="1572768"/>
            <a:ext cx="2035454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595713" y="1709928"/>
            <a:ext cx="310896" cy="310896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95713" y="1755648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79761" y="1700784"/>
            <a:ext cx="143195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处置跟踪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2289" y="2029968"/>
            <a:ext cx="174284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记录进度、超时升级、自动生成复盘报告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3063240"/>
            <a:ext cx="1188720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Microsoft YaHei"/>
              </a:defRPr>
            </a:pPr>
            <a:r>
              <a:t>系统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57400" y="3246120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77240" y="3703320"/>
            <a:ext cx="1188720" cy="38404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Microsoft YaHei"/>
              </a:defRPr>
            </a:pPr>
            <a:r>
              <a:t>AI Agent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57400" y="3886200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77240" y="4343400"/>
            <a:ext cx="1188720" cy="384048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Microsoft YaHei"/>
              </a:defRPr>
            </a:pPr>
            <a:r>
              <a:t>管理人员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57400" y="4526280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77240" y="4983479"/>
            <a:ext cx="118872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Microsoft YaHei"/>
              </a:defRPr>
            </a:pPr>
            <a:r>
              <a:t>学生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57400" y="5166359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240280" y="2953512"/>
            <a:ext cx="114300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19">
                <a:solidFill>
                  <a:srgbClr val="1E293B"/>
                </a:solidFill>
                <a:latin typeface="Microsoft YaHei"/>
              </a:defRPr>
            </a:pPr>
            <a:r>
              <a:t>发现签证</a:t>
            </a:r>
            <a:br/>
            <a:r>
              <a:t>30天到期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77639" y="3593592"/>
            <a:ext cx="114300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19">
                <a:solidFill>
                  <a:srgbClr val="1E293B"/>
                </a:solidFill>
                <a:latin typeface="Microsoft YaHei"/>
              </a:defRPr>
            </a:pPr>
            <a:r>
              <a:t>生成预警</a:t>
            </a:r>
            <a:br/>
            <a:r>
              <a:t>与建议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23560" y="4224528"/>
            <a:ext cx="114300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19">
                <a:solidFill>
                  <a:srgbClr val="1E293B"/>
                </a:solidFill>
                <a:latin typeface="Microsoft YaHei"/>
              </a:defRPr>
            </a:pPr>
            <a:r>
              <a:t>确认处理</a:t>
            </a:r>
            <a:br/>
            <a:r>
              <a:t>或补充信息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69480" y="4864608"/>
            <a:ext cx="114300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19">
                <a:solidFill>
                  <a:srgbClr val="1E293B"/>
                </a:solidFill>
                <a:latin typeface="Microsoft YaHei"/>
              </a:defRPr>
            </a:pPr>
            <a:r>
              <a:t>收到四语</a:t>
            </a:r>
            <a:br/>
            <a:r>
              <a:t>提醒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15400" y="3593592"/>
            <a:ext cx="114300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19">
                <a:solidFill>
                  <a:srgbClr val="1E293B"/>
                </a:solidFill>
                <a:latin typeface="Microsoft YaHei"/>
              </a:defRPr>
            </a:pPr>
            <a:r>
              <a:t>更新状态</a:t>
            </a:r>
            <a:br/>
            <a:r>
              <a:t>关闭预警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383280" y="3182112"/>
            <a:ext cx="594359" cy="640079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120640" y="3822191"/>
            <a:ext cx="502920" cy="630937"/>
          </a:xfrm>
          <a:prstGeom prst="line">
            <a:avLst/>
          </a:prstGeom>
          <a:ln w="2286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766560" y="4453128"/>
            <a:ext cx="502920" cy="640080"/>
          </a:xfrm>
          <a:prstGeom prst="line">
            <a:avLst/>
          </a:prstGeom>
          <a:ln w="2286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8412480" y="3822191"/>
            <a:ext cx="502920" cy="1271017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智能预警中心：分级、分派、跟踪、复盘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建议设置红/橙/黄/蓝四级预警，结合业务规则与 AI 判断提升准确性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44752"/>
            <a:ext cx="32461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444752"/>
            <a:ext cx="324612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645920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费用风险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103120"/>
            <a:ext cx="2770632" cy="1645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欠费金额、逾期天数、奖学金状态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1444752"/>
            <a:ext cx="32461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1444752"/>
            <a:ext cx="324612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36591" y="1645920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学业风险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2103120"/>
            <a:ext cx="2770632" cy="1645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GPA、缺勤、挂科、毕业进度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444752"/>
            <a:ext cx="32461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444752"/>
            <a:ext cx="32461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85632" y="1645920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签证风险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2103120"/>
            <a:ext cx="2770632" cy="1645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有效期、材料缺失、办理进度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743200"/>
            <a:ext cx="32461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743200"/>
            <a:ext cx="324612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2944368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住宿风险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3401568"/>
            <a:ext cx="2770632" cy="1645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入住异常、退宿异常、违规记录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59" y="2743200"/>
            <a:ext cx="32461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80559" y="2743200"/>
            <a:ext cx="324612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1" y="2944368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保险风险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1" y="3401568"/>
            <a:ext cx="2770632" cy="1645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保险过期、未购买、理赔异常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270248"/>
            <a:ext cx="1051560" cy="31089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闭环机制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" y="4709160"/>
            <a:ext cx="1989734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68680" y="4846320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89204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52728" y="4837176"/>
            <a:ext cx="138623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识别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" y="5166360"/>
            <a:ext cx="169712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规则/模型触发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2702966" y="5047488"/>
            <a:ext cx="256032" cy="219456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13278" y="4709160"/>
            <a:ext cx="1989734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23006" y="4846320"/>
            <a:ext cx="310896" cy="310896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23006" y="489204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7054" y="4837176"/>
            <a:ext cx="138623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分级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59582" y="5166360"/>
            <a:ext cx="169712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红橙黄蓝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4857292" y="5047488"/>
            <a:ext cx="256032" cy="219456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67604" y="4709160"/>
            <a:ext cx="1989734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177332" y="4846320"/>
            <a:ext cx="310896" cy="310896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77332" y="489204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61380" y="4837176"/>
            <a:ext cx="138623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推送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3908" y="5166360"/>
            <a:ext cx="169712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责任人/学生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7011619" y="5047488"/>
            <a:ext cx="256032" cy="219456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221931" y="4709160"/>
            <a:ext cx="1989734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31659" y="484632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31659" y="489204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15707" y="4837176"/>
            <a:ext cx="138623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处置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8235" y="5166360"/>
            <a:ext cx="169712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补缴/补办/辅导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9165945" y="5047488"/>
            <a:ext cx="256032" cy="219456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376257" y="4709160"/>
            <a:ext cx="1989734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485985" y="4846320"/>
            <a:ext cx="310896" cy="310896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85985" y="489204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0033" y="4837176"/>
            <a:ext cx="138623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复盘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22561" y="5166360"/>
            <a:ext cx="169712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报告与模型优化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多语言 AI 助手：提升学生服务体验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在学生端延展中文、英文、日文、韩文四语种服务，降低重复咨询压力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15</a:t>
            </a:r>
          </a:p>
        </p:txBody>
      </p:sp>
      <p:pic>
        <p:nvPicPr>
          <p:cNvPr id="10" name="Picture 9" descr="multilingual-ai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78508"/>
            <a:ext cx="4937760" cy="3291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080760" y="1353312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353312"/>
            <a:ext cx="484632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55448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中文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2011680"/>
            <a:ext cx="437083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入学材料、缴费、宿舍办理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340864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2340864"/>
            <a:ext cx="484632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2542032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English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999232"/>
            <a:ext cx="437083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Application, tuition, visa FAQ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3328416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3328416"/>
            <a:ext cx="484632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3529584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日本語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986784"/>
            <a:ext cx="437083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入学案内、寮、在留期限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60" y="4315968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4315968"/>
            <a:ext cx="484632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4517136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한국어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4974336"/>
            <a:ext cx="4370832" cy="-73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입학 안내, 납부, 기숙사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5413248"/>
            <a:ext cx="4846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80760" y="5413248"/>
            <a:ext cx="484632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5614416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可扩展动作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6071616"/>
            <a:ext cx="4370832" cy="-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查询个人状态、生成材料清单、提醒待办、连接人工老师或工单系统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技术实现建议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兼容现有 Java / Vue / 数据库技术栈，AI 能力可本地化或私有化部署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17320"/>
            <a:ext cx="2487168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417320"/>
            <a:ext cx="2487168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618488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前端展示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075688"/>
            <a:ext cx="20116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Vue3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ECharts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DataV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多语言 i18n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2152" y="1417320"/>
            <a:ext cx="2487168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2152" y="1417320"/>
            <a:ext cx="2487168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8184" y="1618488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后端服务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184" y="2075688"/>
            <a:ext cx="20116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Spring Boot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Java 21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RBAC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任务调度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1417320"/>
            <a:ext cx="2487168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18504" y="1417320"/>
            <a:ext cx="2487168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1618488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数据能力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2075688"/>
            <a:ext cx="20116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MySQL/PostgreSQL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Redis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指标库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报表导出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34856" y="1417320"/>
            <a:ext cx="2487168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34856" y="1417320"/>
            <a:ext cx="2487168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0888" y="1618488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0888" y="2075688"/>
            <a:ext cx="20116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Qwen / GPT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LangChain4j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RAG 知识库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Agent 工作流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" y="4663440"/>
            <a:ext cx="1962302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" y="4800600"/>
            <a:ext cx="310896" cy="310896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84632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4791456"/>
            <a:ext cx="135879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业务库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5120640"/>
            <a:ext cx="166969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只读/同步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2721254" y="5001768"/>
            <a:ext cx="256032" cy="219456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931566" y="4663440"/>
            <a:ext cx="1962302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041294" y="4800600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41294" y="484632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5342" y="4791456"/>
            <a:ext cx="135879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数据服务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77870" y="5120640"/>
            <a:ext cx="166969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汇总口径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4848148" y="5001768"/>
            <a:ext cx="256032" cy="219456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58460" y="4663440"/>
            <a:ext cx="1962302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168188" y="4800600"/>
            <a:ext cx="310896" cy="310896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8188" y="484632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52236" y="4791456"/>
            <a:ext cx="135879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分析 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04764" y="5120640"/>
            <a:ext cx="166969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报表/图表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6975043" y="5001768"/>
            <a:ext cx="256032" cy="219456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85355" y="4663440"/>
            <a:ext cx="1962302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295083" y="480060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95083" y="484632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79131" y="4791456"/>
            <a:ext cx="135879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AI 服务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31659" y="5120640"/>
            <a:ext cx="166969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问数/RAG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9101937" y="5001768"/>
            <a:ext cx="256032" cy="219456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312249" y="4663440"/>
            <a:ext cx="1962302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421977" y="4800600"/>
            <a:ext cx="310896" cy="310896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21977" y="4846320"/>
            <a:ext cx="310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6025" y="4791456"/>
            <a:ext cx="135879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80" b="1">
                <a:solidFill>
                  <a:srgbClr val="0D1B3D"/>
                </a:solidFill>
                <a:latin typeface="Microsoft YaHei"/>
              </a:defRPr>
            </a:pPr>
            <a:r>
              <a:t>前端入口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58553" y="5120640"/>
            <a:ext cx="166969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>
                <a:solidFill>
                  <a:srgbClr val="64748B"/>
                </a:solidFill>
                <a:latin typeface="Microsoft YaHei"/>
              </a:defRPr>
            </a:pPr>
            <a:r>
              <a:t>驾驶舱/助手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数据安全与 AI 治理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统计分析和智能体必须基于权限、脱敏、审计和可控调用机制建设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371600"/>
            <a:ext cx="32461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371600"/>
            <a:ext cx="324612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1572768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权限隔离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029968"/>
            <a:ext cx="2770632" cy="34747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RBAC + 数据范围控制，按角色授权到指标、部门、学生范围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9704" y="1371600"/>
            <a:ext cx="32461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9704" y="1371600"/>
            <a:ext cx="324612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5736" y="1572768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敏感脱敏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2029968"/>
            <a:ext cx="2770632" cy="34747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护照号、证件号、联系方式、家庭信息等按场景展示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1371600"/>
            <a:ext cx="32461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324612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1572768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AI 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029968"/>
            <a:ext cx="2770632" cy="34747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AI 不直接越权读数；先做权限校验，再走受控数据接口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" y="2971800"/>
            <a:ext cx="32461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4944" y="2971800"/>
            <a:ext cx="324612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3172968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审计追踪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" y="3630168"/>
            <a:ext cx="2770632" cy="34747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记录问数、导出、预警处置、Agent 动作和人工修改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9704" y="2971800"/>
            <a:ext cx="32461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89704" y="2971800"/>
            <a:ext cx="324612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45736" y="3172968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知识治理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45736" y="3630168"/>
            <a:ext cx="2770632" cy="34747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知识库版本管理、回答来源引用、人工审核与灰度发布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84464" y="2971800"/>
            <a:ext cx="32461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84464" y="2971800"/>
            <a:ext cx="324612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0496" y="3172968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备份恢复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0496" y="3630168"/>
            <a:ext cx="2770632" cy="34747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数据库备份、日志留存、关键报表和预警配置可恢复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5760720"/>
            <a:ext cx="6720840" cy="411480"/>
          </a:xfrm>
          <a:prstGeom prst="round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治理原则：最小权限、最少暴露、全程留痕、人工可接管、结果可解释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实施路径：先驾驶舱，再智能分析，最后 Agent 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以低耦合方式接入现有系统，优先交付可见价值，再逐步增强智能化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1508760"/>
            <a:ext cx="3154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508760"/>
            <a:ext cx="31546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1709928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数据统计驾驶舱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2075688"/>
            <a:ext cx="264261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Aptos Display"/>
              </a:defRPr>
            </a:pPr>
            <a:r>
              <a:t>阶段一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2532888"/>
            <a:ext cx="2679192" cy="2651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统一指标口径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招生/学生/费用/教务专题报表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管理大屏与导出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50792" y="3108960"/>
            <a:ext cx="41148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7992" y="1508760"/>
            <a:ext cx="3154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07992" y="1508760"/>
            <a:ext cx="315468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64024" y="1709928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AI 智能分析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4" y="2075688"/>
            <a:ext cx="264261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7C3AED"/>
                </a:solidFill>
                <a:latin typeface="Aptos Display"/>
              </a:defRPr>
            </a:pPr>
            <a:r>
              <a:t>阶段二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4024" y="2532888"/>
            <a:ext cx="2679192" cy="2651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自然语言问数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自动图表与摘要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知识库问答与报表生成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754112" y="3108960"/>
            <a:ext cx="41148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11312" y="1508760"/>
            <a:ext cx="3154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11312" y="1508760"/>
            <a:ext cx="315468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1709928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智能预警与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2075688"/>
            <a:ext cx="264261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B8A6"/>
                </a:solidFill>
                <a:latin typeface="Aptos Display"/>
              </a:defRPr>
            </a:pPr>
            <a:r>
              <a:t>阶段三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2532888"/>
            <a:ext cx="2679192" cy="2651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风险模型与分级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多语言通知</a:t>
            </a:r>
          </a:p>
          <a:p>
            <a:pPr>
              <a:spcAft>
                <a:spcPts val="200"/>
              </a:spcAft>
              <a:defRPr sz="980">
                <a:solidFill>
                  <a:srgbClr val="1E293B"/>
                </a:solidFill>
                <a:latin typeface="Microsoft YaHei"/>
              </a:defRPr>
            </a:pPr>
            <a:r>
              <a:t>工单跟进与复盘报告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650992"/>
            <a:ext cx="10424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5650992"/>
            <a:ext cx="104241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2" y="5852160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交付建议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6309360"/>
            <a:ext cx="9948672" cy="-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每个阶段都形成可演示成果：可视化页面、典型问数场景、预警闭环样例和权限审计记录。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188720"/>
            <a:ext cx="3474720" cy="3474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8138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3D"/>
                </a:solidFill>
                <a:latin typeface="Microsoft YaHei"/>
              </a:defRPr>
            </a:pPr>
            <a:r>
              <a:t>预期建设效果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95097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t>形成国际学生管理的数字化、智能化、国际化示范应用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08760"/>
            <a:ext cx="31546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508760"/>
            <a:ext cx="31546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709928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管理效率提升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167128"/>
            <a:ext cx="2679192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减少人工统计和跨部门对账工作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1508760"/>
            <a:ext cx="31546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1508760"/>
            <a:ext cx="315468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82312" y="1709928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决策更及时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167128"/>
            <a:ext cx="2679192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实时掌握招生、财务、学业、住宿动态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08760"/>
            <a:ext cx="31546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508760"/>
            <a:ext cx="31546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85632" y="1709928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风险更可控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2167128"/>
            <a:ext cx="2679192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提前发现欠费、签证、学业等重点风险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017520"/>
            <a:ext cx="31546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17520"/>
            <a:ext cx="315468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3218688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服务更友好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675888"/>
            <a:ext cx="2679192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四语种 AI 助手提升学生自助服务体验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017520"/>
            <a:ext cx="31546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26280" y="3017520"/>
            <a:ext cx="315468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2312" y="3218688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1B3D"/>
                </a:solidFill>
                <a:latin typeface="Microsoft YaHei"/>
              </a:defRPr>
            </a:pPr>
            <a:r>
              <a:t>系统更有价值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3675888"/>
            <a:ext cx="2679192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19">
                <a:solidFill>
                  <a:srgbClr val="1E293B"/>
                </a:solidFill>
                <a:latin typeface="Microsoft YaHei"/>
              </a:defRPr>
            </a:pPr>
            <a:r>
              <a:t>现有业务系统升级为数据资产和智能运营平台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3000" y="4983480"/>
            <a:ext cx="9921240" cy="822960"/>
          </a:xfrm>
          <a:prstGeom prst="round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从“管理系统”升级为“数据智能平台”：用统计看全局，用 AI 找答案，用 Agent 促闭环。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510528"/>
            <a:ext cx="113842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4710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Microsoft YaHei"/>
              </a:defRPr>
            </a:pPr>
            <a:r>
              <a:t>国际学生智能管理平台｜数据统计与 AI 智能体建设方案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537960"/>
            <a:ext cx="502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国际学生智能管理平台数据统计与AI智能体建设方案</dc:title>
  <dc:subject>数据驾驶舱、AI智能分析、智能预警、多语言AI助手</dc:subject>
  <dc:creator>Cursor Cloud Agent</dc:creator>
  <cp:keywords>国际学生, 数据统计, AI智能体, 数据驾驶舱, 智能预警, 多语言助手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